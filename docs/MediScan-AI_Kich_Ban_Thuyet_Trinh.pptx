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thầy/cô và các bạn. Em xin trình bày đồ án MediScan-AI — hệ thống hỗ trợ quản lý khám và chẩn đoán gãy xương qua ảnh X-quang, có tích hợp AI để đưa ra điểm rủi ro gãy xương sơ bộ giúp bác sĩ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hôm nay gồm 4 phần: giới thiệu dự án, đi sâu vào 3 kỹ thuật AI đang dùng, thiết kế actor và sơ đồ ngữ cảnh, cuối cùng là tổng quan use case theo từng vai trò.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quy trình đọc phim X-quang thủ công tốn thời gian và phụ thuộc kinh nghiệm bác sĩ. Mục tiêu của nhóm là số hoá toàn bộ quy trình khám và bổ sung một lớp AI hỗ trợ sàng lọc sơ bộ — nhấn mạnh: AI chỉ hỗ trợ, bác sĩ vẫn là người quyết định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2 phần: Spring Boot đóng vai trò core — xử lý nghiệp vụ, xác thực, lịch hẹn, hồ sơ, lưu ở MySQL. Khi cần phân tích ảnh, Spring Boot gọi sang một microservice Python riêng viết bằng FastAPI qua REST API có xác thực bằng API key nội bộ — nơi chạy YOLOv11, Fractal và ANFIS.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trong dự án gồm 3 kỹ thuật phối hợp: YOLOv11 học sâu để khoanh vùng nghi gãy, Fractal box-counting là thuật toán cổ điển bổ sung không cần huấn luyện, và ANFIS đóng vai trò bộ não tổng hợp mọi đặc trưng thành một điểm rủi ro duy nhất. Em sẽ đi sâu từng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YOLOv11 là mô hình học sâu, dùng trọng số đã huấn luyện riêng cho ảnh X-quang xương. Ngưỡng tin cậy để giữ một detection là 0.25 — thấp hơn bình thường một chút, có chủ đích, để không bỏ sót các vùng nghi ngờ nhẹ. Mỗi vùng YOLO tìm được sẽ có toạ độ khung bao và điểm tin cậy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Song song với YOLO, hệ thống còn chạy một thuật toán cổ điển là Fractal box-counting — hoàn toàn không cần huấn luyện. Nó trích biên ảnh rồi đo độ gồ ghề của viền xương; viền càng bất thường thì fractal dimension càng cao, khả năng gãy càng lớn. Đây là lưới an toàn bổ sung cho YOLO.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 và Fractal chạy song song, kết quả được gộp bằng NMS để loại các khung trùng lặp cùng một vết gãy. Từ các vùng đã gộp, hệ thống tính ra 9 đặc trưng số — đây chính là đầu vào chung để bước tiếp theo, ANFIS, ra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ANFIS là mạng nơ-ron kết hợp logic mờ. Điểm hay bị hỏi xoáy: mạng chỉ nhận trực tiếp 5 trong 9 đặc trưng — edge_irregularity, bone_contrast, yolo_confidence, region_burden, morphology_strength — mỗi input có 3 hàm thành viên Gauss nên tối đa có 243 luật mờ. 4 đặc trưng còn lại dùng ở bước hậu xử lý chứ không vào thẳng mạng. Đầu ra là điểm rủi ro liên tục từ 0 đến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sâu hơn vào cách ANFIS tính toán: Lớp 1 mờ hoá từng đầu vào qua 3 hàm Gauss. Lớp 2 nhân các mức độ thuộc về theo từng tổ hợp luật, tối đa 243 luật, mỗi luật ra một độ mạnh kích hoạt. Lớp 3 chuẩn hoá các độ mạnh này thành tỉ trọng cộng lại bằng 1. Lớp 4 — khác với ANFIS đơn giản chỉ dùng hằng số, mạng này dùng hệ quả tuyến tính kiểu Takagi-Sugeno, hệ số học bằng bình phương tối thiểu. Lớp 5 cộng có trọng số tất cả để ra điểm cuối cùng. Đây là kiến trúc ANFIS kinh điển của Jang, học kiểu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edge_irregularity đo độ gồ ghề viền vùng nghi ngờ — viền càng bất thường càng giống đường gãy thật. bone_contrast đo độ tương phản ảnh sau CLAHE — ảnh rõ thì đánh giá tin cậy hơn. yolo_confidence là độ tự tin cao nhất của YOLO. region_burden đo gánh nặng tổn thương — vùng lớn hoặc nhiều vùng thì rủi ro cao hơn. morphology_strength đo hình thái điển hình của đường gãy: dài, mảnh, viền phức tạp, khác đốm nhiễu tròn nhỏ. Đây là toàn bộ 5 con số mà ANFIS nhìn thấy để ra quyết định — không có thông tin bệnh nhân nào khác được đưa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mấu chốt: dự án chưa có dữ liệu lâm sàng gán nhãn thật, nên nhóm dùng kỹ thuật distillation — chưng cất tri thức. Viết tay 20 luật mờ chuyên gia làm giáo viên, sinh 8000 mẫu tổng hợp cho giáo viên chấm điểm, rồi huấn luyện ANFIS 80 epoch để tái tạo lại đúng đầu ra đó. Nếu file trọng số lỗi, hệ thống tự động fallback về hệ luật viết tay. Đây là câu trả lời chuẩn khi bị hỏi ANFIS train trên dữ liệu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Ảnh X-quang vào hệ thống, được tiền xử lý cho rõ hơn, sau đó chạy song song 2 phương pháp: YOLOv11 dò vùng nghi gãy và Fractal đo độ gồ ghề viền xương. Hai kết quả được gộp lại bằng NMS và trích thành 9 đặc trưng số. ANFIS lấy các đặc trưng đó để chấm điểm rủi ro từ 0 đến 100 và phân loại mức độ. Cuối cùng hệ thống trả về ảnh đã khoanh vùng cùng điểm số và mô tả để bác sĩ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5 actor tương ứng 5 role trong database: Patient, Receptionist, Technician, Doctor, Admin. Mỗi vai trò có một bộ chức năng riêng biệt, được phân quyền rõ ràng trong Spring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ngữ cảnh (DFD mức 0): MediScan-AI ở giữa, xung quanh là 5 actor người dùng và 2 hệ thống ngoài — AI/ML Service (microservice FastAPI) và Notification Service. Mỗi mũi tên thể hiện luồng dữ liệu trao đổi hai chiều giữa actor/hệ thống ngoài với core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tổng quan theo 5 actor. Riêng Đăng nhập / Đổi mật khẩu dùng chung cho tất cả vai trò nên được tách thành một use case chia sẻ ở dưới. Mỗi actor có một nhóm chức năng chính — ví dụ Lễ tân có 16 use case chi tiết hơn trong tài liệu đặc tả riêng, ở đây chỉ liệt kê nhóm chức năng cốt lõi để dễ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nhóm đã số hoá trọn vẹn quy trình khám cho 5 vai trò và xây dựng thành công pipeline AI 3 tầng hoạt động ổn định. Hướng phát triển tiếp theo là thu thập dữ liệu lâm sàng thật để tinh chỉnh lại ANFIS, thay vì chỉ dựa vào hệ luật viết tay như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cảm ơn thầy/cô đã lắng nghe phần trình bày. Em sẵn sàng giải đáp các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5"/>
        </a:solidFill>
      </p:bgPr>
    </p:bg>
    <p:spTree>
      <p:nvGrpSpPr>
        <p:cNvPr id="1" name=""/>
        <p:cNvGrpSpPr/>
        <p:nvPr/>
      </p:nvGrpSpPr>
      <p:grpSpPr>
        <a:xfrm>
          <a:off x="0" y="0"/>
          <a:ext cx="0" cy="0"/>
          <a:chOff x="0" y="0"/>
          <a:chExt cx="0" cy="0"/>
        </a:xfrm>
      </p:grpSpPr>
      <p:pic>
        <p:nvPicPr>
          <p:cNvPr id="2" name="Image 0" descr="/home/claude/output2/icons/clinic.png">    </p:cNvPr>
          <p:cNvPicPr>
            <a:picLocks noChangeAspect="1"/>
          </p:cNvPicPr>
          <p:nvPr/>
        </p:nvPicPr>
        <p:blipFill>
          <a:blip r:embed="rId1">
            <a:alphaModFix amt="12000"/>
          </a:blip>
          <a:stretch>
            <a:fillRect/>
          </a:stretch>
        </p:blipFill>
        <p:spPr>
          <a:xfrm>
            <a:off x="7955280" y="1005840"/>
            <a:ext cx="4206240" cy="4206240"/>
          </a:xfrm>
          <a:prstGeom prst="rect">
            <a:avLst/>
          </a:prstGeom>
        </p:spPr>
      </p:pic>
      <p:sp>
        <p:nvSpPr>
          <p:cNvPr id="3" name="Text 0"/>
          <p:cNvSpPr/>
          <p:nvPr/>
        </p:nvSpPr>
        <p:spPr>
          <a:xfrm>
            <a:off x="822960" y="2331720"/>
            <a:ext cx="96012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MEDISCAN-AI</a:t>
            </a:r>
            <a:endParaRPr lang="en-US" sz="5400" dirty="0"/>
          </a:p>
        </p:txBody>
      </p:sp>
      <p:sp>
        <p:nvSpPr>
          <p:cNvPr id="4" name="Text 1"/>
          <p:cNvSpPr/>
          <p:nvPr/>
        </p:nvSpPr>
        <p:spPr>
          <a:xfrm>
            <a:off x="868680" y="3337560"/>
            <a:ext cx="8961120" cy="548640"/>
          </a:xfrm>
          <a:prstGeom prst="rect">
            <a:avLst/>
          </a:prstGeom>
          <a:noFill/>
          <a:ln/>
        </p:spPr>
        <p:txBody>
          <a:bodyPr wrap="square" rtlCol="0" anchor="ctr"/>
          <a:lstStyle/>
          <a:p>
            <a:pPr indent="0" marL="0">
              <a:buNone/>
            </a:pPr>
            <a:r>
              <a:rPr lang="en-US" sz="1900" dirty="0">
                <a:solidFill>
                  <a:srgbClr val="CFE0EE"/>
                </a:solidFill>
                <a:latin typeface="Calibri" pitchFamily="34" charset="0"/>
                <a:ea typeface="Calibri" pitchFamily="34" charset="-122"/>
                <a:cs typeface="Calibri" pitchFamily="34" charset="-120"/>
              </a:rPr>
              <a:t>Hệ thống hỗ trợ chẩn đoán gãy xương qua ảnh X-quang ứng dụng AI</a:t>
            </a:r>
            <a:endParaRPr lang="en-US" sz="1900" dirty="0"/>
          </a:p>
        </p:txBody>
      </p:sp>
      <p:sp>
        <p:nvSpPr>
          <p:cNvPr id="5" name="Shape 2"/>
          <p:cNvSpPr/>
          <p:nvPr/>
        </p:nvSpPr>
        <p:spPr>
          <a:xfrm>
            <a:off x="868680" y="3977640"/>
            <a:ext cx="457200" cy="36576"/>
          </a:xfrm>
          <a:prstGeom prst="rect">
            <a:avLst/>
          </a:prstGeom>
          <a:solidFill>
            <a:srgbClr val="D97C2B"/>
          </a:solidFill>
          <a:ln/>
        </p:spPr>
      </p:sp>
      <p:sp>
        <p:nvSpPr>
          <p:cNvPr id="6" name="Text 3"/>
          <p:cNvSpPr/>
          <p:nvPr/>
        </p:nvSpPr>
        <p:spPr>
          <a:xfrm>
            <a:off x="868680" y="4114800"/>
            <a:ext cx="8686800" cy="365760"/>
          </a:xfrm>
          <a:prstGeom prst="rect">
            <a:avLst/>
          </a:prstGeom>
          <a:noFill/>
          <a:ln/>
        </p:spPr>
        <p:txBody>
          <a:bodyPr wrap="square" rtlCol="0" anchor="ctr"/>
          <a:lstStyle/>
          <a:p>
            <a:pPr indent="0" marL="0">
              <a:buNone/>
            </a:pPr>
            <a:r>
              <a:rPr lang="en-US" sz="1300" i="1" dirty="0">
                <a:solidFill>
                  <a:srgbClr val="8FB7CE"/>
                </a:solidFill>
                <a:latin typeface="Calibri" pitchFamily="34" charset="0"/>
                <a:ea typeface="Calibri" pitchFamily="34" charset="-122"/>
                <a:cs typeface="Calibri" pitchFamily="34" charset="-120"/>
              </a:rPr>
              <a:t>Kịch bản thuyết trình đồ án  ·  Kiến trúc hệ thống — Ứng dụng AI — Actor — Use Case</a:t>
            </a:r>
            <a:endParaRPr lang="en-US" sz="1300" dirty="0"/>
          </a:p>
        </p:txBody>
      </p:sp>
      <p:sp>
        <p:nvSpPr>
          <p:cNvPr id="7" name="Text 4"/>
          <p:cNvSpPr/>
          <p:nvPr/>
        </p:nvSpPr>
        <p:spPr>
          <a:xfrm>
            <a:off x="868680" y="5943600"/>
            <a:ext cx="4572000" cy="320040"/>
          </a:xfrm>
          <a:prstGeom prst="rect">
            <a:avLst/>
          </a:prstGeom>
          <a:noFill/>
          <a:ln/>
        </p:spPr>
        <p:txBody>
          <a:bodyPr wrap="square" rtlCol="0" anchor="ctr"/>
          <a:lstStyle/>
          <a:p>
            <a:pPr indent="0" marL="0">
              <a:buNone/>
            </a:pPr>
            <a:r>
              <a:rPr lang="en-US" sz="1300" b="1" dirty="0">
                <a:solidFill>
                  <a:srgbClr val="CFE0EE"/>
                </a:solidFill>
                <a:latin typeface="Calibri" pitchFamily="34" charset="0"/>
                <a:ea typeface="Calibri" pitchFamily="34" charset="-122"/>
                <a:cs typeface="Calibri" pitchFamily="34" charset="-120"/>
              </a:rPr>
              <a:t>Thực hiện: SonHT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NỘI DUNG TRÌNH BÀY</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4 phần chính</a:t>
            </a:r>
            <a:endParaRPr lang="en-US" sz="3000" dirty="0"/>
          </a:p>
        </p:txBody>
      </p:sp>
      <p:sp>
        <p:nvSpPr>
          <p:cNvPr id="4" name="Shape 2"/>
          <p:cNvSpPr/>
          <p:nvPr/>
        </p:nvSpPr>
        <p:spPr>
          <a:xfrm>
            <a:off x="548640" y="1691640"/>
            <a:ext cx="11094415" cy="850392"/>
          </a:xfrm>
          <a:prstGeom prst="roundRect">
            <a:avLst>
              <a:gd name="adj" fmla="val 9677"/>
            </a:avLst>
          </a:prstGeom>
          <a:solidFill>
            <a:srgbClr val="EEF3F8"/>
          </a:solidFill>
          <a:ln w="12700">
            <a:solidFill>
              <a:srgbClr val="D6DEE6"/>
            </a:solidFill>
            <a:prstDash val="solid"/>
          </a:ln>
        </p:spPr>
      </p:sp>
      <p:sp>
        <p:nvSpPr>
          <p:cNvPr id="5" name="Shape 3"/>
          <p:cNvSpPr/>
          <p:nvPr/>
        </p:nvSpPr>
        <p:spPr>
          <a:xfrm>
            <a:off x="822960" y="1824228"/>
            <a:ext cx="585216" cy="585216"/>
          </a:xfrm>
          <a:prstGeom prst="ellipse">
            <a:avLst/>
          </a:prstGeom>
          <a:solidFill>
            <a:srgbClr val="12395C"/>
          </a:solidFill>
          <a:ln/>
        </p:spPr>
      </p:sp>
      <p:sp>
        <p:nvSpPr>
          <p:cNvPr id="6" name="Text 4"/>
          <p:cNvSpPr/>
          <p:nvPr/>
        </p:nvSpPr>
        <p:spPr>
          <a:xfrm>
            <a:off x="822960" y="1824228"/>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91640" y="1746504"/>
            <a:ext cx="8686800" cy="384048"/>
          </a:xfrm>
          <a:prstGeom prst="rect">
            <a:avLst/>
          </a:prstGeom>
          <a:noFill/>
          <a:ln/>
        </p:spPr>
        <p:txBody>
          <a:bodyPr wrap="square" rtlCol="0" anchor="ctr"/>
          <a:lstStyle/>
          <a:p>
            <a:pPr indent="0" marL="0">
              <a:buNone/>
            </a:pPr>
            <a:r>
              <a:rPr lang="en-US" sz="1700" b="1" dirty="0">
                <a:solidFill>
                  <a:srgbClr val="16212E"/>
                </a:solidFill>
                <a:latin typeface="Calibri" pitchFamily="34" charset="0"/>
                <a:ea typeface="Calibri" pitchFamily="34" charset="-122"/>
                <a:cs typeface="Calibri" pitchFamily="34" charset="-120"/>
              </a:rPr>
              <a:t>Giới thiệu dự án &amp; kiến trúc hệ thống</a:t>
            </a:r>
            <a:endParaRPr lang="en-US" sz="1700" dirty="0"/>
          </a:p>
        </p:txBody>
      </p:sp>
      <p:sp>
        <p:nvSpPr>
          <p:cNvPr id="8" name="Text 6"/>
          <p:cNvSpPr/>
          <p:nvPr/>
        </p:nvSpPr>
        <p:spPr>
          <a:xfrm>
            <a:off x="1691640" y="2148840"/>
            <a:ext cx="9052560" cy="329184"/>
          </a:xfrm>
          <a:prstGeom prst="rect">
            <a:avLst/>
          </a:prstGeom>
          <a:noFill/>
          <a:ln/>
        </p:spPr>
        <p:txBody>
          <a:bodyPr wrap="square" rtlCol="0" anchor="ctr"/>
          <a:lstStyle/>
          <a:p>
            <a:pPr indent="0" marL="0">
              <a:buNone/>
            </a:pPr>
            <a:r>
              <a:rPr lang="en-US" sz="1250" dirty="0">
                <a:solidFill>
                  <a:srgbClr val="5B6774"/>
                </a:solidFill>
                <a:latin typeface="Calibri" pitchFamily="34" charset="0"/>
                <a:ea typeface="Calibri" pitchFamily="34" charset="-122"/>
                <a:cs typeface="Calibri" pitchFamily="34" charset="-120"/>
              </a:rPr>
              <a:t>Bài toán, mục tiêu, cách Spring Boot và AI Service phối hợp</a:t>
            </a:r>
            <a:endParaRPr lang="en-US" sz="1250" dirty="0"/>
          </a:p>
        </p:txBody>
      </p:sp>
      <p:sp>
        <p:nvSpPr>
          <p:cNvPr id="9" name="Shape 7"/>
          <p:cNvSpPr/>
          <p:nvPr/>
        </p:nvSpPr>
        <p:spPr>
          <a:xfrm>
            <a:off x="548640" y="2743200"/>
            <a:ext cx="11094415" cy="850392"/>
          </a:xfrm>
          <a:prstGeom prst="roundRect">
            <a:avLst>
              <a:gd name="adj" fmla="val 9677"/>
            </a:avLst>
          </a:prstGeom>
          <a:solidFill>
            <a:srgbClr val="FFFFFF"/>
          </a:solidFill>
          <a:ln w="12700">
            <a:solidFill>
              <a:srgbClr val="D6DEE6"/>
            </a:solidFill>
            <a:prstDash val="solid"/>
          </a:ln>
        </p:spPr>
      </p:sp>
      <p:sp>
        <p:nvSpPr>
          <p:cNvPr id="10" name="Shape 8"/>
          <p:cNvSpPr/>
          <p:nvPr/>
        </p:nvSpPr>
        <p:spPr>
          <a:xfrm>
            <a:off x="822960" y="2875788"/>
            <a:ext cx="585216" cy="585216"/>
          </a:xfrm>
          <a:prstGeom prst="ellipse">
            <a:avLst/>
          </a:prstGeom>
          <a:solidFill>
            <a:srgbClr val="12395C"/>
          </a:solidFill>
          <a:ln/>
        </p:spPr>
      </p:sp>
      <p:sp>
        <p:nvSpPr>
          <p:cNvPr id="11" name="Text 9"/>
          <p:cNvSpPr/>
          <p:nvPr/>
        </p:nvSpPr>
        <p:spPr>
          <a:xfrm>
            <a:off x="822960" y="2875788"/>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691640" y="2798064"/>
            <a:ext cx="8686800" cy="384048"/>
          </a:xfrm>
          <a:prstGeom prst="rect">
            <a:avLst/>
          </a:prstGeom>
          <a:noFill/>
          <a:ln/>
        </p:spPr>
        <p:txBody>
          <a:bodyPr wrap="square" rtlCol="0" anchor="ctr"/>
          <a:lstStyle/>
          <a:p>
            <a:pPr indent="0" marL="0">
              <a:buNone/>
            </a:pPr>
            <a:r>
              <a:rPr lang="en-US" sz="1700" b="1" dirty="0">
                <a:solidFill>
                  <a:srgbClr val="16212E"/>
                </a:solidFill>
                <a:latin typeface="Calibri" pitchFamily="34" charset="0"/>
                <a:ea typeface="Calibri" pitchFamily="34" charset="-122"/>
                <a:cs typeface="Calibri" pitchFamily="34" charset="-120"/>
              </a:rPr>
              <a:t>Ứng dụng AI: YOLOv11 – Fractal – ANFIS</a:t>
            </a:r>
            <a:endParaRPr lang="en-US" sz="1700" dirty="0"/>
          </a:p>
        </p:txBody>
      </p:sp>
      <p:sp>
        <p:nvSpPr>
          <p:cNvPr id="13" name="Text 11"/>
          <p:cNvSpPr/>
          <p:nvPr/>
        </p:nvSpPr>
        <p:spPr>
          <a:xfrm>
            <a:off x="1691640" y="3200400"/>
            <a:ext cx="9052560" cy="329184"/>
          </a:xfrm>
          <a:prstGeom prst="rect">
            <a:avLst/>
          </a:prstGeom>
          <a:noFill/>
          <a:ln/>
        </p:spPr>
        <p:txBody>
          <a:bodyPr wrap="square" rtlCol="0" anchor="ctr"/>
          <a:lstStyle/>
          <a:p>
            <a:pPr indent="0" marL="0">
              <a:buNone/>
            </a:pPr>
            <a:r>
              <a:rPr lang="en-US" sz="1250" dirty="0">
                <a:solidFill>
                  <a:srgbClr val="5B6774"/>
                </a:solidFill>
                <a:latin typeface="Calibri" pitchFamily="34" charset="0"/>
                <a:ea typeface="Calibri" pitchFamily="34" charset="-122"/>
                <a:cs typeface="Calibri" pitchFamily="34" charset="-120"/>
              </a:rPr>
              <a:t>Cách 3 kỹ thuật kết hợp để cho ra điểm rủi ro gãy xương</a:t>
            </a:r>
            <a:endParaRPr lang="en-US" sz="1250" dirty="0"/>
          </a:p>
        </p:txBody>
      </p:sp>
      <p:sp>
        <p:nvSpPr>
          <p:cNvPr id="14" name="Shape 12"/>
          <p:cNvSpPr/>
          <p:nvPr/>
        </p:nvSpPr>
        <p:spPr>
          <a:xfrm>
            <a:off x="548640" y="3794760"/>
            <a:ext cx="11094415" cy="850392"/>
          </a:xfrm>
          <a:prstGeom prst="roundRect">
            <a:avLst>
              <a:gd name="adj" fmla="val 9677"/>
            </a:avLst>
          </a:prstGeom>
          <a:solidFill>
            <a:srgbClr val="EEF3F8"/>
          </a:solidFill>
          <a:ln w="12700">
            <a:solidFill>
              <a:srgbClr val="D6DEE6"/>
            </a:solidFill>
            <a:prstDash val="solid"/>
          </a:ln>
        </p:spPr>
      </p:sp>
      <p:sp>
        <p:nvSpPr>
          <p:cNvPr id="15" name="Shape 13"/>
          <p:cNvSpPr/>
          <p:nvPr/>
        </p:nvSpPr>
        <p:spPr>
          <a:xfrm>
            <a:off x="822960" y="3927348"/>
            <a:ext cx="585216" cy="585216"/>
          </a:xfrm>
          <a:prstGeom prst="ellipse">
            <a:avLst/>
          </a:prstGeom>
          <a:solidFill>
            <a:srgbClr val="12395C"/>
          </a:solidFill>
          <a:ln/>
        </p:spPr>
      </p:sp>
      <p:sp>
        <p:nvSpPr>
          <p:cNvPr id="16" name="Text 14"/>
          <p:cNvSpPr/>
          <p:nvPr/>
        </p:nvSpPr>
        <p:spPr>
          <a:xfrm>
            <a:off x="822960" y="3927348"/>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691640" y="3849624"/>
            <a:ext cx="8686800" cy="384048"/>
          </a:xfrm>
          <a:prstGeom prst="rect">
            <a:avLst/>
          </a:prstGeom>
          <a:noFill/>
          <a:ln/>
        </p:spPr>
        <p:txBody>
          <a:bodyPr wrap="square" rtlCol="0" anchor="ctr"/>
          <a:lstStyle/>
          <a:p>
            <a:pPr indent="0" marL="0">
              <a:buNone/>
            </a:pPr>
            <a:r>
              <a:rPr lang="en-US" sz="1700" b="1" dirty="0">
                <a:solidFill>
                  <a:srgbClr val="16212E"/>
                </a:solidFill>
                <a:latin typeface="Calibri" pitchFamily="34" charset="0"/>
                <a:ea typeface="Calibri" pitchFamily="34" charset="-122"/>
                <a:cs typeface="Calibri" pitchFamily="34" charset="-120"/>
              </a:rPr>
              <a:t>Thiết kế Actor &amp; Sơ đồ ngữ cảnh</a:t>
            </a:r>
            <a:endParaRPr lang="en-US" sz="1700" dirty="0"/>
          </a:p>
        </p:txBody>
      </p:sp>
      <p:sp>
        <p:nvSpPr>
          <p:cNvPr id="18" name="Text 16"/>
          <p:cNvSpPr/>
          <p:nvPr/>
        </p:nvSpPr>
        <p:spPr>
          <a:xfrm>
            <a:off x="1691640" y="4251960"/>
            <a:ext cx="9052560" cy="329184"/>
          </a:xfrm>
          <a:prstGeom prst="rect">
            <a:avLst/>
          </a:prstGeom>
          <a:noFill/>
          <a:ln/>
        </p:spPr>
        <p:txBody>
          <a:bodyPr wrap="square" rtlCol="0" anchor="ctr"/>
          <a:lstStyle/>
          <a:p>
            <a:pPr indent="0" marL="0">
              <a:buNone/>
            </a:pPr>
            <a:r>
              <a:rPr lang="en-US" sz="1250" dirty="0">
                <a:solidFill>
                  <a:srgbClr val="5B6774"/>
                </a:solidFill>
                <a:latin typeface="Calibri" pitchFamily="34" charset="0"/>
                <a:ea typeface="Calibri" pitchFamily="34" charset="-122"/>
                <a:cs typeface="Calibri" pitchFamily="34" charset="-120"/>
              </a:rPr>
              <a:t>5 vai trò trong hệ thống và luồng dữ liệu ra/vào</a:t>
            </a:r>
            <a:endParaRPr lang="en-US" sz="1250" dirty="0"/>
          </a:p>
        </p:txBody>
      </p:sp>
      <p:sp>
        <p:nvSpPr>
          <p:cNvPr id="19" name="Shape 17"/>
          <p:cNvSpPr/>
          <p:nvPr/>
        </p:nvSpPr>
        <p:spPr>
          <a:xfrm>
            <a:off x="548640" y="4846320"/>
            <a:ext cx="11094415" cy="850392"/>
          </a:xfrm>
          <a:prstGeom prst="roundRect">
            <a:avLst>
              <a:gd name="adj" fmla="val 9677"/>
            </a:avLst>
          </a:prstGeom>
          <a:solidFill>
            <a:srgbClr val="FFFFFF"/>
          </a:solidFill>
          <a:ln w="12700">
            <a:solidFill>
              <a:srgbClr val="D6DEE6"/>
            </a:solidFill>
            <a:prstDash val="solid"/>
          </a:ln>
        </p:spPr>
      </p:sp>
      <p:sp>
        <p:nvSpPr>
          <p:cNvPr id="20" name="Shape 18"/>
          <p:cNvSpPr/>
          <p:nvPr/>
        </p:nvSpPr>
        <p:spPr>
          <a:xfrm>
            <a:off x="822960" y="4978908"/>
            <a:ext cx="585216" cy="585216"/>
          </a:xfrm>
          <a:prstGeom prst="ellipse">
            <a:avLst/>
          </a:prstGeom>
          <a:solidFill>
            <a:srgbClr val="12395C"/>
          </a:solidFill>
          <a:ln/>
        </p:spPr>
      </p:sp>
      <p:sp>
        <p:nvSpPr>
          <p:cNvPr id="21" name="Text 19"/>
          <p:cNvSpPr/>
          <p:nvPr/>
        </p:nvSpPr>
        <p:spPr>
          <a:xfrm>
            <a:off x="822960" y="4978908"/>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1691640" y="4901184"/>
            <a:ext cx="8686800" cy="384048"/>
          </a:xfrm>
          <a:prstGeom prst="rect">
            <a:avLst/>
          </a:prstGeom>
          <a:noFill/>
          <a:ln/>
        </p:spPr>
        <p:txBody>
          <a:bodyPr wrap="square" rtlCol="0" anchor="ctr"/>
          <a:lstStyle/>
          <a:p>
            <a:pPr indent="0" marL="0">
              <a:buNone/>
            </a:pPr>
            <a:r>
              <a:rPr lang="en-US" sz="1700" b="1" dirty="0">
                <a:solidFill>
                  <a:srgbClr val="16212E"/>
                </a:solidFill>
                <a:latin typeface="Calibri" pitchFamily="34" charset="0"/>
                <a:ea typeface="Calibri" pitchFamily="34" charset="-122"/>
                <a:cs typeface="Calibri" pitchFamily="34" charset="-120"/>
              </a:rPr>
              <a:t>Use Case tổng quan</a:t>
            </a:r>
            <a:endParaRPr lang="en-US" sz="1700" dirty="0"/>
          </a:p>
        </p:txBody>
      </p:sp>
      <p:sp>
        <p:nvSpPr>
          <p:cNvPr id="23" name="Text 21"/>
          <p:cNvSpPr/>
          <p:nvPr/>
        </p:nvSpPr>
        <p:spPr>
          <a:xfrm>
            <a:off x="1691640" y="5303520"/>
            <a:ext cx="9052560" cy="329184"/>
          </a:xfrm>
          <a:prstGeom prst="rect">
            <a:avLst/>
          </a:prstGeom>
          <a:noFill/>
          <a:ln/>
        </p:spPr>
        <p:txBody>
          <a:bodyPr wrap="square" rtlCol="0" anchor="ctr"/>
          <a:lstStyle/>
          <a:p>
            <a:pPr indent="0" marL="0">
              <a:buNone/>
            </a:pPr>
            <a:r>
              <a:rPr lang="en-US" sz="1250" dirty="0">
                <a:solidFill>
                  <a:srgbClr val="5B6774"/>
                </a:solidFill>
                <a:latin typeface="Calibri" pitchFamily="34" charset="0"/>
                <a:ea typeface="Calibri" pitchFamily="34" charset="-122"/>
                <a:cs typeface="Calibri" pitchFamily="34" charset="-120"/>
              </a:rPr>
              <a:t>Các chức năng chính theo từng vai trò</a:t>
            </a:r>
            <a:endParaRPr lang="en-US" sz="1250" dirty="0"/>
          </a:p>
        </p:txBody>
      </p:sp>
      <p:sp>
        <p:nvSpPr>
          <p:cNvPr id="24" name="Text 22"/>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25" name="Text 23"/>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ĐẶT VẤN ĐỀ</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Vấn đề &amp; Mục tiêu dự án</a:t>
            </a:r>
            <a:endParaRPr lang="en-US" sz="3000" dirty="0"/>
          </a:p>
        </p:txBody>
      </p:sp>
      <p:sp>
        <p:nvSpPr>
          <p:cNvPr id="4" name="Shape 2"/>
          <p:cNvSpPr/>
          <p:nvPr/>
        </p:nvSpPr>
        <p:spPr>
          <a:xfrm>
            <a:off x="548640" y="1828800"/>
            <a:ext cx="5318608" cy="4206240"/>
          </a:xfrm>
          <a:prstGeom prst="roundRect">
            <a:avLst>
              <a:gd name="adj" fmla="val 1957"/>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5" name="Shape 3"/>
          <p:cNvSpPr/>
          <p:nvPr/>
        </p:nvSpPr>
        <p:spPr>
          <a:xfrm>
            <a:off x="868680" y="2148840"/>
            <a:ext cx="914400" cy="914400"/>
          </a:xfrm>
          <a:prstGeom prst="ellipse">
            <a:avLst/>
          </a:prstGeom>
          <a:solidFill>
            <a:srgbClr val="D97C2B"/>
          </a:solidFill>
          <a:ln/>
        </p:spPr>
      </p:sp>
      <p:pic>
        <p:nvPicPr>
          <p:cNvPr id="6" name="Image 0" descr="/home/claude/output2/icons/warning.png">    </p:cNvPr>
          <p:cNvPicPr>
            <a:picLocks noChangeAspect="1"/>
          </p:cNvPicPr>
          <p:nvPr/>
        </p:nvPicPr>
        <p:blipFill>
          <a:blip r:embed="rId1"/>
          <a:stretch>
            <a:fillRect/>
          </a:stretch>
        </p:blipFill>
        <p:spPr>
          <a:xfrm>
            <a:off x="1097280" y="2377440"/>
            <a:ext cx="457200" cy="457200"/>
          </a:xfrm>
          <a:prstGeom prst="rect">
            <a:avLst/>
          </a:prstGeom>
        </p:spPr>
      </p:pic>
      <p:sp>
        <p:nvSpPr>
          <p:cNvPr id="7" name="Text 4"/>
          <p:cNvSpPr/>
          <p:nvPr/>
        </p:nvSpPr>
        <p:spPr>
          <a:xfrm>
            <a:off x="1005840" y="3200400"/>
            <a:ext cx="4404208" cy="457200"/>
          </a:xfrm>
          <a:prstGeom prst="rect">
            <a:avLst/>
          </a:prstGeom>
          <a:noFill/>
          <a:ln/>
        </p:spPr>
        <p:txBody>
          <a:bodyPr wrap="square" rtlCol="0" anchor="ctr"/>
          <a:lstStyle/>
          <a:p>
            <a:pPr algn="ctr" indent="0" marL="0">
              <a:buNone/>
            </a:pPr>
            <a:r>
              <a:rPr lang="en-US" sz="2200" b="1" dirty="0">
                <a:solidFill>
                  <a:srgbClr val="12395C"/>
                </a:solidFill>
                <a:latin typeface="Cambria" pitchFamily="34" charset="0"/>
                <a:ea typeface="Cambria" pitchFamily="34" charset="-122"/>
                <a:cs typeface="Cambria" pitchFamily="34" charset="-120"/>
              </a:rPr>
              <a:t>Vấn đề</a:t>
            </a:r>
            <a:endParaRPr lang="en-US" sz="2200" dirty="0"/>
          </a:p>
        </p:txBody>
      </p:sp>
      <p:sp>
        <p:nvSpPr>
          <p:cNvPr id="8" name="Text 5"/>
          <p:cNvSpPr/>
          <p:nvPr/>
        </p:nvSpPr>
        <p:spPr>
          <a:xfrm>
            <a:off x="960120" y="3749040"/>
            <a:ext cx="4495648" cy="2103120"/>
          </a:xfrm>
          <a:prstGeom prst="rect">
            <a:avLst/>
          </a:prstGeom>
          <a:noFill/>
          <a:ln/>
        </p:spPr>
        <p:txBody>
          <a:bodyPr wrap="square" rtlCol="0" anchor="t"/>
          <a:lstStyle/>
          <a:p>
            <a:pPr marL="342900" indent="-342900">
              <a:spcAft>
                <a:spcPts val="1000"/>
              </a:spcAft>
              <a:buSzPct val="100000"/>
              <a:buChar char="•"/>
            </a:pPr>
            <a:r>
              <a:rPr lang="en-US" sz="1450" dirty="0">
                <a:solidFill>
                  <a:srgbClr val="16212E"/>
                </a:solidFill>
                <a:latin typeface="Calibri" pitchFamily="34" charset="0"/>
                <a:ea typeface="Calibri" pitchFamily="34" charset="-122"/>
                <a:cs typeface="Calibri" pitchFamily="34" charset="-120"/>
              </a:rPr>
              <a:t>Đọc và đánh giá sơ bộ ảnh X-quang thủ công tốn thời gian, phụ thuộc kinh nghiệm từng bác sĩ.</a:t>
            </a:r>
            <a:endParaRPr lang="en-US" sz="1450" dirty="0"/>
          </a:p>
          <a:p>
            <a:pPr marL="342900" indent="-342900">
              <a:spcAft>
                <a:spcPts val="1000"/>
              </a:spcAft>
              <a:buSzPct val="100000"/>
              <a:buChar char="•"/>
            </a:pPr>
            <a:r>
              <a:rPr lang="en-US" sz="1450" dirty="0">
                <a:solidFill>
                  <a:srgbClr val="16212E"/>
                </a:solidFill>
                <a:latin typeface="Calibri" pitchFamily="34" charset="0"/>
                <a:ea typeface="Calibri" pitchFamily="34" charset="-122"/>
                <a:cs typeface="Calibri" pitchFamily="34" charset="-120"/>
              </a:rPr>
              <a:t>Số ca chờ duyệt tăng cao vào giờ cao điểm, dễ chậm trễ trong khâu tiếp nhận – chỉ định – trả kết quả.</a:t>
            </a:r>
            <a:endParaRPr lang="en-US" sz="1450" dirty="0"/>
          </a:p>
          <a:p>
            <a:pPr marL="342900" indent="-342900">
              <a:buSzPct val="100000"/>
              <a:buChar char="•"/>
            </a:pPr>
            <a:r>
              <a:rPr lang="en-US" sz="1450" dirty="0">
                <a:solidFill>
                  <a:srgbClr val="16212E"/>
                </a:solidFill>
                <a:latin typeface="Calibri" pitchFamily="34" charset="0"/>
                <a:ea typeface="Calibri" pitchFamily="34" charset="-122"/>
                <a:cs typeface="Calibri" pitchFamily="34" charset="-120"/>
              </a:rPr>
              <a:t>Chưa có công cụ hỗ trợ sàng lọc sơ bộ trước khi bác sĩ xem trực tiếp phim chụp.</a:t>
            </a:r>
            <a:endParaRPr lang="en-US" sz="1450" dirty="0"/>
          </a:p>
        </p:txBody>
      </p:sp>
      <p:sp>
        <p:nvSpPr>
          <p:cNvPr id="9" name="Shape 6"/>
          <p:cNvSpPr/>
          <p:nvPr/>
        </p:nvSpPr>
        <p:spPr>
          <a:xfrm>
            <a:off x="6324448" y="1828800"/>
            <a:ext cx="5318608" cy="4206240"/>
          </a:xfrm>
          <a:prstGeom prst="roundRect">
            <a:avLst>
              <a:gd name="adj" fmla="val 1957"/>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0" name="Shape 7"/>
          <p:cNvSpPr/>
          <p:nvPr/>
        </p:nvSpPr>
        <p:spPr>
          <a:xfrm>
            <a:off x="6644488" y="2148840"/>
            <a:ext cx="914400" cy="914400"/>
          </a:xfrm>
          <a:prstGeom prst="ellipse">
            <a:avLst/>
          </a:prstGeom>
          <a:solidFill>
            <a:srgbClr val="1C7293"/>
          </a:solidFill>
          <a:ln/>
        </p:spPr>
      </p:sp>
      <p:pic>
        <p:nvPicPr>
          <p:cNvPr id="11" name="Image 1" descr="/home/claude/output2/icons/target.png">    </p:cNvPr>
          <p:cNvPicPr>
            <a:picLocks noChangeAspect="1"/>
          </p:cNvPicPr>
          <p:nvPr/>
        </p:nvPicPr>
        <p:blipFill>
          <a:blip r:embed="rId2"/>
          <a:stretch>
            <a:fillRect/>
          </a:stretch>
        </p:blipFill>
        <p:spPr>
          <a:xfrm>
            <a:off x="6873088" y="2377440"/>
            <a:ext cx="457200" cy="457200"/>
          </a:xfrm>
          <a:prstGeom prst="rect">
            <a:avLst/>
          </a:prstGeom>
        </p:spPr>
      </p:pic>
      <p:sp>
        <p:nvSpPr>
          <p:cNvPr id="12" name="Text 8"/>
          <p:cNvSpPr/>
          <p:nvPr/>
        </p:nvSpPr>
        <p:spPr>
          <a:xfrm>
            <a:off x="6781648" y="3200400"/>
            <a:ext cx="4404208" cy="457200"/>
          </a:xfrm>
          <a:prstGeom prst="rect">
            <a:avLst/>
          </a:prstGeom>
          <a:noFill/>
          <a:ln/>
        </p:spPr>
        <p:txBody>
          <a:bodyPr wrap="square" rtlCol="0" anchor="ctr"/>
          <a:lstStyle/>
          <a:p>
            <a:pPr algn="ctr" indent="0" marL="0">
              <a:buNone/>
            </a:pPr>
            <a:r>
              <a:rPr lang="en-US" sz="2200" b="1" dirty="0">
                <a:solidFill>
                  <a:srgbClr val="12395C"/>
                </a:solidFill>
                <a:latin typeface="Cambria" pitchFamily="34" charset="0"/>
                <a:ea typeface="Cambria" pitchFamily="34" charset="-122"/>
                <a:cs typeface="Cambria" pitchFamily="34" charset="-120"/>
              </a:rPr>
              <a:t>Mục tiêu</a:t>
            </a:r>
            <a:endParaRPr lang="en-US" sz="2200" dirty="0"/>
          </a:p>
        </p:txBody>
      </p:sp>
      <p:sp>
        <p:nvSpPr>
          <p:cNvPr id="13" name="Text 9"/>
          <p:cNvSpPr/>
          <p:nvPr/>
        </p:nvSpPr>
        <p:spPr>
          <a:xfrm>
            <a:off x="6735928" y="3749040"/>
            <a:ext cx="4495648" cy="2103120"/>
          </a:xfrm>
          <a:prstGeom prst="rect">
            <a:avLst/>
          </a:prstGeom>
          <a:noFill/>
          <a:ln/>
        </p:spPr>
        <p:txBody>
          <a:bodyPr wrap="square" rtlCol="0" anchor="t"/>
          <a:lstStyle/>
          <a:p>
            <a:pPr marL="342900" indent="-342900">
              <a:spcAft>
                <a:spcPts val="1000"/>
              </a:spcAft>
              <a:buSzPct val="100000"/>
              <a:buChar char="•"/>
            </a:pPr>
            <a:r>
              <a:rPr lang="en-US" sz="1450" dirty="0">
                <a:solidFill>
                  <a:srgbClr val="16212E"/>
                </a:solidFill>
                <a:latin typeface="Calibri" pitchFamily="34" charset="0"/>
                <a:ea typeface="Calibri" pitchFamily="34" charset="-122"/>
                <a:cs typeface="Calibri" pitchFamily="34" charset="-120"/>
              </a:rPr>
              <a:t>Số hoá quy trình khám: đặt lịch → tiếp nhận → chụp X-quang → chẩn đoán, cho cả Lễ tân, Kỹ thuật viên, Bác sĩ.</a:t>
            </a:r>
            <a:endParaRPr lang="en-US" sz="1450" dirty="0"/>
          </a:p>
          <a:p>
            <a:pPr marL="342900" indent="-342900">
              <a:spcAft>
                <a:spcPts val="1000"/>
              </a:spcAft>
              <a:buSzPct val="100000"/>
              <a:buChar char="•"/>
            </a:pPr>
            <a:r>
              <a:rPr lang="en-US" sz="1450" dirty="0">
                <a:solidFill>
                  <a:srgbClr val="16212E"/>
                </a:solidFill>
                <a:latin typeface="Calibri" pitchFamily="34" charset="0"/>
                <a:ea typeface="Calibri" pitchFamily="34" charset="-122"/>
                <a:cs typeface="Calibri" pitchFamily="34" charset="-120"/>
              </a:rPr>
              <a:t>Tích hợp AI (YOLOv11 + Fractal + ANFIS) để đưa ra điểm rủi ro gãy xương sơ bộ ngay sau khi ảnh được tải lên.</a:t>
            </a:r>
            <a:endParaRPr lang="en-US" sz="1450" dirty="0"/>
          </a:p>
          <a:p>
            <a:pPr marL="342900" indent="-342900">
              <a:buSzPct val="100000"/>
              <a:buChar char="•"/>
            </a:pPr>
            <a:r>
              <a:rPr lang="en-US" sz="1450" b="1" dirty="0">
                <a:solidFill>
                  <a:srgbClr val="16212E"/>
                </a:solidFill>
                <a:latin typeface="Calibri" pitchFamily="34" charset="0"/>
                <a:ea typeface="Calibri" pitchFamily="34" charset="-122"/>
                <a:cs typeface="Calibri" pitchFamily="34" charset="-120"/>
              </a:rPr>
              <a:t>AI chỉ hỗ trợ tham khảo — quyết định chẩn đoán cuối cùng luôn thuộc về bác sĩ.</a:t>
            </a:r>
            <a:endParaRPr lang="en-US" sz="1450" dirty="0"/>
          </a:p>
        </p:txBody>
      </p:sp>
      <p:sp>
        <p:nvSpPr>
          <p:cNvPr id="14" name="Text 10"/>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15" name="Text 11"/>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KIẾN TRÚC HỆ THỐNG</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Kiến trúc tổng quan</a:t>
            </a:r>
            <a:endParaRPr lang="en-US" sz="3000" dirty="0"/>
          </a:p>
        </p:txBody>
      </p:sp>
      <p:sp>
        <p:nvSpPr>
          <p:cNvPr id="4" name="Shape 2"/>
          <p:cNvSpPr/>
          <p:nvPr/>
        </p:nvSpPr>
        <p:spPr>
          <a:xfrm>
            <a:off x="640080" y="2377440"/>
            <a:ext cx="1828800" cy="914400"/>
          </a:xfrm>
          <a:prstGeom prst="roundRect">
            <a:avLst>
              <a:gd name="adj" fmla="val 9000"/>
            </a:avLst>
          </a:prstGeom>
          <a:solidFill>
            <a:srgbClr val="E2EBF3"/>
          </a:solidFill>
          <a:ln w="12700">
            <a:solidFill>
              <a:srgbClr val="D6DEE6"/>
            </a:solidFill>
            <a:prstDash val="solid"/>
          </a:ln>
        </p:spPr>
      </p:sp>
      <p:sp>
        <p:nvSpPr>
          <p:cNvPr id="5" name="Text 3"/>
          <p:cNvSpPr/>
          <p:nvPr/>
        </p:nvSpPr>
        <p:spPr>
          <a:xfrm>
            <a:off x="640080" y="2377440"/>
            <a:ext cx="1828800" cy="914400"/>
          </a:xfrm>
          <a:prstGeom prst="rect">
            <a:avLst/>
          </a:prstGeom>
          <a:noFill/>
          <a:ln/>
        </p:spPr>
        <p:txBody>
          <a:bodyPr wrap="square" rtlCol="0" anchor="ctr"/>
          <a:lstStyle/>
          <a:p>
            <a:pPr algn="ctr" indent="0" marL="0">
              <a:buNone/>
            </a:pPr>
            <a:r>
              <a:rPr lang="en-US" sz="1300" b="1" dirty="0">
                <a:solidFill>
                  <a:srgbClr val="16212E"/>
                </a:solidFill>
                <a:latin typeface="Calibri" pitchFamily="34" charset="0"/>
                <a:ea typeface="Calibri" pitchFamily="34" charset="-122"/>
                <a:cs typeface="Calibri" pitchFamily="34" charset="-120"/>
              </a:rPr>
              <a:t>Người dùng</a:t>
            </a:r>
            <a:endParaRPr lang="en-US" sz="1300" dirty="0"/>
          </a:p>
          <a:p>
            <a:pPr algn="ctr" indent="0" marL="0">
              <a:buNone/>
            </a:pPr>
            <a:r>
              <a:rPr lang="en-US" sz="1300" b="1" dirty="0">
                <a:solidFill>
                  <a:srgbClr val="16212E"/>
                </a:solidFill>
                <a:latin typeface="Calibri" pitchFamily="34" charset="0"/>
                <a:ea typeface="Calibri" pitchFamily="34" charset="-122"/>
                <a:cs typeface="Calibri" pitchFamily="34" charset="-120"/>
              </a:rPr>
              <a:t>(Trình duyệt)</a:t>
            </a:r>
            <a:endParaRPr lang="en-US" sz="1300" dirty="0"/>
          </a:p>
        </p:txBody>
      </p:sp>
      <p:sp>
        <p:nvSpPr>
          <p:cNvPr id="6" name="Shape 4"/>
          <p:cNvSpPr/>
          <p:nvPr/>
        </p:nvSpPr>
        <p:spPr>
          <a:xfrm>
            <a:off x="3063240" y="1920240"/>
            <a:ext cx="3657600" cy="1828800"/>
          </a:xfrm>
          <a:prstGeom prst="roundRect">
            <a:avLst>
              <a:gd name="adj" fmla="val 5000"/>
            </a:avLst>
          </a:prstGeom>
          <a:solidFill>
            <a:srgbClr val="12395C"/>
          </a:solidFill>
          <a:ln/>
          <a:effectLst>
            <a:outerShdw sx="100000" sy="100000" kx="0" ky="0" algn="bl" rotWithShape="0" blurRad="101600" dist="38100" dir="5400000">
              <a:srgbClr val="9AA7B4">
                <a:alpha val="30000"/>
              </a:srgbClr>
            </a:outerShdw>
          </a:effectLst>
        </p:spPr>
      </p:sp>
      <p:sp>
        <p:nvSpPr>
          <p:cNvPr id="7" name="Text 5"/>
          <p:cNvSpPr/>
          <p:nvPr/>
        </p:nvSpPr>
        <p:spPr>
          <a:xfrm>
            <a:off x="3200400" y="2029968"/>
            <a:ext cx="3383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Spring Boot — Core hệ thống</a:t>
            </a:r>
            <a:endParaRPr lang="en-US" sz="1400" dirty="0"/>
          </a:p>
        </p:txBody>
      </p:sp>
      <p:sp>
        <p:nvSpPr>
          <p:cNvPr id="8" name="Shape 6"/>
          <p:cNvSpPr/>
          <p:nvPr/>
        </p:nvSpPr>
        <p:spPr>
          <a:xfrm>
            <a:off x="3246120" y="2514600"/>
            <a:ext cx="1508760" cy="384048"/>
          </a:xfrm>
          <a:prstGeom prst="roundRect">
            <a:avLst>
              <a:gd name="adj" fmla="val 50000"/>
            </a:avLst>
          </a:prstGeom>
          <a:solidFill>
            <a:srgbClr val="1B4A73"/>
          </a:solidFill>
          <a:ln w="9525">
            <a:solidFill>
              <a:srgbClr val="1B4A73"/>
            </a:solidFill>
            <a:prstDash val="solid"/>
          </a:ln>
        </p:spPr>
      </p:sp>
      <p:sp>
        <p:nvSpPr>
          <p:cNvPr id="9" name="Text 7"/>
          <p:cNvSpPr/>
          <p:nvPr/>
        </p:nvSpPr>
        <p:spPr>
          <a:xfrm>
            <a:off x="3291840" y="2514600"/>
            <a:ext cx="1417320"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Xác thực &amp; Phân quyền</a:t>
            </a:r>
            <a:endParaRPr lang="en-US" sz="1100" dirty="0"/>
          </a:p>
        </p:txBody>
      </p:sp>
      <p:sp>
        <p:nvSpPr>
          <p:cNvPr id="10" name="Shape 8"/>
          <p:cNvSpPr/>
          <p:nvPr/>
        </p:nvSpPr>
        <p:spPr>
          <a:xfrm>
            <a:off x="5074920" y="2514600"/>
            <a:ext cx="1508760" cy="384048"/>
          </a:xfrm>
          <a:prstGeom prst="roundRect">
            <a:avLst>
              <a:gd name="adj" fmla="val 50000"/>
            </a:avLst>
          </a:prstGeom>
          <a:solidFill>
            <a:srgbClr val="1B4A73"/>
          </a:solidFill>
          <a:ln w="9525">
            <a:solidFill>
              <a:srgbClr val="1B4A73"/>
            </a:solidFill>
            <a:prstDash val="solid"/>
          </a:ln>
        </p:spPr>
      </p:sp>
      <p:sp>
        <p:nvSpPr>
          <p:cNvPr id="11" name="Text 9"/>
          <p:cNvSpPr/>
          <p:nvPr/>
        </p:nvSpPr>
        <p:spPr>
          <a:xfrm>
            <a:off x="5120640" y="2514600"/>
            <a:ext cx="1417320"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Lịch hẹn &amp; Hàng đợi</a:t>
            </a:r>
            <a:endParaRPr lang="en-US" sz="1100" dirty="0"/>
          </a:p>
        </p:txBody>
      </p:sp>
      <p:sp>
        <p:nvSpPr>
          <p:cNvPr id="12" name="Shape 10"/>
          <p:cNvSpPr/>
          <p:nvPr/>
        </p:nvSpPr>
        <p:spPr>
          <a:xfrm>
            <a:off x="3246120" y="3081528"/>
            <a:ext cx="1508760" cy="384048"/>
          </a:xfrm>
          <a:prstGeom prst="roundRect">
            <a:avLst>
              <a:gd name="adj" fmla="val 50000"/>
            </a:avLst>
          </a:prstGeom>
          <a:solidFill>
            <a:srgbClr val="1B4A73"/>
          </a:solidFill>
          <a:ln w="9525">
            <a:solidFill>
              <a:srgbClr val="1B4A73"/>
            </a:solidFill>
            <a:prstDash val="solid"/>
          </a:ln>
        </p:spPr>
      </p:sp>
      <p:sp>
        <p:nvSpPr>
          <p:cNvPr id="13" name="Text 11"/>
          <p:cNvSpPr/>
          <p:nvPr/>
        </p:nvSpPr>
        <p:spPr>
          <a:xfrm>
            <a:off x="3291840" y="3081528"/>
            <a:ext cx="1417320"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Hồ sơ &amp; Ảnh X-quang</a:t>
            </a:r>
            <a:endParaRPr lang="en-US" sz="1100" dirty="0"/>
          </a:p>
        </p:txBody>
      </p:sp>
      <p:sp>
        <p:nvSpPr>
          <p:cNvPr id="14" name="Shape 12"/>
          <p:cNvSpPr/>
          <p:nvPr/>
        </p:nvSpPr>
        <p:spPr>
          <a:xfrm>
            <a:off x="5074920" y="3081528"/>
            <a:ext cx="1508760" cy="384048"/>
          </a:xfrm>
          <a:prstGeom prst="roundRect">
            <a:avLst>
              <a:gd name="adj" fmla="val 50000"/>
            </a:avLst>
          </a:prstGeom>
          <a:solidFill>
            <a:srgbClr val="1B4A73"/>
          </a:solidFill>
          <a:ln w="9525">
            <a:solidFill>
              <a:srgbClr val="1B4A73"/>
            </a:solidFill>
            <a:prstDash val="solid"/>
          </a:ln>
        </p:spPr>
      </p:sp>
      <p:sp>
        <p:nvSpPr>
          <p:cNvPr id="15" name="Text 13"/>
          <p:cNvSpPr/>
          <p:nvPr/>
        </p:nvSpPr>
        <p:spPr>
          <a:xfrm>
            <a:off x="5120640" y="3081528"/>
            <a:ext cx="1417320"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Thông báo</a:t>
            </a:r>
            <a:endParaRPr lang="en-US" sz="1100" dirty="0"/>
          </a:p>
        </p:txBody>
      </p:sp>
      <p:sp>
        <p:nvSpPr>
          <p:cNvPr id="16" name="Shape 14"/>
          <p:cNvSpPr/>
          <p:nvPr/>
        </p:nvSpPr>
        <p:spPr>
          <a:xfrm>
            <a:off x="3520440" y="4343400"/>
            <a:ext cx="2743200" cy="777240"/>
          </a:xfrm>
          <a:prstGeom prst="roundRect">
            <a:avLst>
              <a:gd name="adj" fmla="val 10588"/>
            </a:avLst>
          </a:prstGeom>
          <a:solidFill>
            <a:srgbClr val="E2EBF3"/>
          </a:solidFill>
          <a:ln w="12700">
            <a:solidFill>
              <a:srgbClr val="D6DEE6"/>
            </a:solidFill>
            <a:prstDash val="solid"/>
          </a:ln>
        </p:spPr>
      </p:sp>
      <p:pic>
        <p:nvPicPr>
          <p:cNvPr id="17" name="Image 0" descr="/home/claude/output2/icons/database-navy.png">    </p:cNvPr>
          <p:cNvPicPr>
            <a:picLocks noChangeAspect="1"/>
          </p:cNvPicPr>
          <p:nvPr/>
        </p:nvPicPr>
        <p:blipFill>
          <a:blip r:embed="rId1"/>
          <a:stretch>
            <a:fillRect/>
          </a:stretch>
        </p:blipFill>
        <p:spPr>
          <a:xfrm>
            <a:off x="3657600" y="4507992"/>
            <a:ext cx="457200" cy="457200"/>
          </a:xfrm>
          <a:prstGeom prst="rect">
            <a:avLst/>
          </a:prstGeom>
        </p:spPr>
      </p:pic>
      <p:sp>
        <p:nvSpPr>
          <p:cNvPr id="18" name="Text 15"/>
          <p:cNvSpPr/>
          <p:nvPr/>
        </p:nvSpPr>
        <p:spPr>
          <a:xfrm>
            <a:off x="4206240" y="4343400"/>
            <a:ext cx="1920240" cy="777240"/>
          </a:xfrm>
          <a:prstGeom prst="rect">
            <a:avLst/>
          </a:prstGeom>
          <a:noFill/>
          <a:ln/>
        </p:spPr>
        <p:txBody>
          <a:bodyPr wrap="square" rtlCol="0" anchor="ctr"/>
          <a:lstStyle/>
          <a:p>
            <a:pPr indent="0" marL="0">
              <a:buNone/>
            </a:pPr>
            <a:r>
              <a:rPr lang="en-US" sz="1300" b="1" dirty="0">
                <a:solidFill>
                  <a:srgbClr val="16212E"/>
                </a:solidFill>
                <a:latin typeface="Calibri" pitchFamily="34" charset="0"/>
                <a:ea typeface="Calibri" pitchFamily="34" charset="-122"/>
                <a:cs typeface="Calibri" pitchFamily="34" charset="-120"/>
              </a:rPr>
              <a:t>MySQL Database</a:t>
            </a:r>
            <a:endParaRPr lang="en-US" sz="1300" dirty="0"/>
          </a:p>
        </p:txBody>
      </p:sp>
      <p:sp>
        <p:nvSpPr>
          <p:cNvPr id="19" name="Shape 16"/>
          <p:cNvSpPr/>
          <p:nvPr/>
        </p:nvSpPr>
        <p:spPr>
          <a:xfrm>
            <a:off x="8138160" y="1828800"/>
            <a:ext cx="3383280" cy="2194560"/>
          </a:xfrm>
          <a:prstGeom prst="roundRect">
            <a:avLst>
              <a:gd name="adj" fmla="val 4167"/>
            </a:avLst>
          </a:prstGeom>
          <a:solidFill>
            <a:srgbClr val="1C7293"/>
          </a:solidFill>
          <a:ln/>
          <a:effectLst>
            <a:outerShdw sx="100000" sy="100000" kx="0" ky="0" algn="bl" rotWithShape="0" blurRad="101600" dist="38100" dir="5400000">
              <a:srgbClr val="9AA7B4">
                <a:alpha val="30000"/>
              </a:srgbClr>
            </a:outerShdw>
          </a:effectLst>
        </p:spPr>
      </p:sp>
      <p:sp>
        <p:nvSpPr>
          <p:cNvPr id="20" name="Text 17"/>
          <p:cNvSpPr/>
          <p:nvPr/>
        </p:nvSpPr>
        <p:spPr>
          <a:xfrm>
            <a:off x="8275320" y="1938528"/>
            <a:ext cx="310896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FastAPI — AI Service</a:t>
            </a:r>
            <a:endParaRPr lang="en-US" sz="1400" dirty="0"/>
          </a:p>
        </p:txBody>
      </p:sp>
      <p:sp>
        <p:nvSpPr>
          <p:cNvPr id="21" name="Text 18"/>
          <p:cNvSpPr/>
          <p:nvPr/>
        </p:nvSpPr>
        <p:spPr>
          <a:xfrm>
            <a:off x="8275320" y="2286000"/>
            <a:ext cx="3108960" cy="274320"/>
          </a:xfrm>
          <a:prstGeom prst="rect">
            <a:avLst/>
          </a:prstGeom>
          <a:noFill/>
          <a:ln/>
        </p:spPr>
        <p:txBody>
          <a:bodyPr wrap="square" rtlCol="0" anchor="ctr"/>
          <a:lstStyle/>
          <a:p>
            <a:pPr indent="0" marL="0">
              <a:buNone/>
            </a:pPr>
            <a:r>
              <a:rPr lang="en-US" sz="1050" i="1" dirty="0">
                <a:solidFill>
                  <a:srgbClr val="DCEFF3"/>
                </a:solidFill>
                <a:latin typeface="Calibri" pitchFamily="34" charset="0"/>
                <a:ea typeface="Calibri" pitchFamily="34" charset="-122"/>
                <a:cs typeface="Calibri" pitchFamily="34" charset="-120"/>
              </a:rPr>
              <a:t>Microservice Python riêng biệt</a:t>
            </a:r>
            <a:endParaRPr lang="en-US" sz="1050" dirty="0"/>
          </a:p>
        </p:txBody>
      </p:sp>
      <p:sp>
        <p:nvSpPr>
          <p:cNvPr id="22" name="Shape 19"/>
          <p:cNvSpPr/>
          <p:nvPr/>
        </p:nvSpPr>
        <p:spPr>
          <a:xfrm>
            <a:off x="8321040" y="2743200"/>
            <a:ext cx="960120" cy="384048"/>
          </a:xfrm>
          <a:prstGeom prst="roundRect">
            <a:avLst>
              <a:gd name="adj" fmla="val 50000"/>
            </a:avLst>
          </a:prstGeom>
          <a:solidFill>
            <a:srgbClr val="0F5A6C"/>
          </a:solidFill>
          <a:ln w="9525">
            <a:solidFill>
              <a:srgbClr val="0F5A6C"/>
            </a:solidFill>
            <a:prstDash val="solid"/>
          </a:ln>
        </p:spPr>
      </p:sp>
      <p:sp>
        <p:nvSpPr>
          <p:cNvPr id="23" name="Text 20"/>
          <p:cNvSpPr/>
          <p:nvPr/>
        </p:nvSpPr>
        <p:spPr>
          <a:xfrm>
            <a:off x="8366760" y="2743200"/>
            <a:ext cx="86868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YOLOv11</a:t>
            </a:r>
            <a:endParaRPr lang="en-US" sz="1100" dirty="0"/>
          </a:p>
        </p:txBody>
      </p:sp>
      <p:sp>
        <p:nvSpPr>
          <p:cNvPr id="24" name="Shape 21"/>
          <p:cNvSpPr/>
          <p:nvPr/>
        </p:nvSpPr>
        <p:spPr>
          <a:xfrm>
            <a:off x="9372600" y="2743200"/>
            <a:ext cx="960120" cy="384048"/>
          </a:xfrm>
          <a:prstGeom prst="roundRect">
            <a:avLst>
              <a:gd name="adj" fmla="val 50000"/>
            </a:avLst>
          </a:prstGeom>
          <a:solidFill>
            <a:srgbClr val="0F5A6C"/>
          </a:solidFill>
          <a:ln w="9525">
            <a:solidFill>
              <a:srgbClr val="0F5A6C"/>
            </a:solidFill>
            <a:prstDash val="solid"/>
          </a:ln>
        </p:spPr>
      </p:sp>
      <p:sp>
        <p:nvSpPr>
          <p:cNvPr id="25" name="Text 22"/>
          <p:cNvSpPr/>
          <p:nvPr/>
        </p:nvSpPr>
        <p:spPr>
          <a:xfrm>
            <a:off x="9418320" y="2743200"/>
            <a:ext cx="86868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Fractal</a:t>
            </a:r>
            <a:endParaRPr lang="en-US" sz="1100" dirty="0"/>
          </a:p>
        </p:txBody>
      </p:sp>
      <p:sp>
        <p:nvSpPr>
          <p:cNvPr id="26" name="Shape 23"/>
          <p:cNvSpPr/>
          <p:nvPr/>
        </p:nvSpPr>
        <p:spPr>
          <a:xfrm>
            <a:off x="10424160" y="2743200"/>
            <a:ext cx="960120" cy="384048"/>
          </a:xfrm>
          <a:prstGeom prst="roundRect">
            <a:avLst>
              <a:gd name="adj" fmla="val 50000"/>
            </a:avLst>
          </a:prstGeom>
          <a:solidFill>
            <a:srgbClr val="0F5A6C"/>
          </a:solidFill>
          <a:ln w="9525">
            <a:solidFill>
              <a:srgbClr val="0F5A6C"/>
            </a:solidFill>
            <a:prstDash val="solid"/>
          </a:ln>
        </p:spPr>
      </p:sp>
      <p:sp>
        <p:nvSpPr>
          <p:cNvPr id="27" name="Text 24"/>
          <p:cNvSpPr/>
          <p:nvPr/>
        </p:nvSpPr>
        <p:spPr>
          <a:xfrm>
            <a:off x="10469880" y="2743200"/>
            <a:ext cx="86868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ANFIS</a:t>
            </a:r>
            <a:endParaRPr lang="en-US" sz="1100" dirty="0"/>
          </a:p>
        </p:txBody>
      </p:sp>
      <p:sp>
        <p:nvSpPr>
          <p:cNvPr id="28" name="Text 25"/>
          <p:cNvSpPr/>
          <p:nvPr/>
        </p:nvSpPr>
        <p:spPr>
          <a:xfrm>
            <a:off x="8321040" y="3291840"/>
            <a:ext cx="3017520" cy="640080"/>
          </a:xfrm>
          <a:prstGeom prst="rect">
            <a:avLst/>
          </a:prstGeom>
          <a:noFill/>
          <a:ln/>
        </p:spPr>
        <p:txBody>
          <a:bodyPr wrap="square" rtlCol="0" anchor="ctr"/>
          <a:lstStyle/>
          <a:p>
            <a:pPr indent="0" marL="0">
              <a:buNone/>
            </a:pPr>
            <a:r>
              <a:rPr lang="en-US" sz="1100" dirty="0">
                <a:solidFill>
                  <a:srgbClr val="EAF6F8"/>
                </a:solidFill>
                <a:latin typeface="Calibri" pitchFamily="34" charset="0"/>
                <a:ea typeface="Calibri" pitchFamily="34" charset="-122"/>
                <a:cs typeface="Calibri" pitchFamily="34" charset="-120"/>
              </a:rPr>
              <a:t>Nhận diện &amp; chấm điểm rủi ro gãy xương từ ảnh X-quang</a:t>
            </a:r>
            <a:endParaRPr lang="en-US" sz="1100" dirty="0"/>
          </a:p>
        </p:txBody>
      </p:sp>
      <p:sp>
        <p:nvSpPr>
          <p:cNvPr id="29" name="Shape 26"/>
          <p:cNvSpPr/>
          <p:nvPr/>
        </p:nvSpPr>
        <p:spPr>
          <a:xfrm>
            <a:off x="2468880" y="2834640"/>
            <a:ext cx="594360" cy="0"/>
          </a:xfrm>
          <a:prstGeom prst="line">
            <a:avLst/>
          </a:prstGeom>
          <a:noFill/>
          <a:ln w="22225">
            <a:solidFill>
              <a:srgbClr val="5B6774"/>
            </a:solidFill>
            <a:prstDash val="solid"/>
            <a:tailEnd type="triangle"/>
          </a:ln>
        </p:spPr>
      </p:sp>
      <p:sp>
        <p:nvSpPr>
          <p:cNvPr id="30" name="Shape 27"/>
          <p:cNvSpPr/>
          <p:nvPr/>
        </p:nvSpPr>
        <p:spPr>
          <a:xfrm>
            <a:off x="4892040" y="3749040"/>
            <a:ext cx="0" cy="594360"/>
          </a:xfrm>
          <a:prstGeom prst="line">
            <a:avLst/>
          </a:prstGeom>
          <a:noFill/>
          <a:ln w="22225">
            <a:solidFill>
              <a:srgbClr val="5B6774"/>
            </a:solidFill>
            <a:prstDash val="solid"/>
            <a:tailEnd type="none"/>
          </a:ln>
        </p:spPr>
      </p:sp>
      <p:sp>
        <p:nvSpPr>
          <p:cNvPr id="31" name="Shape 28"/>
          <p:cNvSpPr/>
          <p:nvPr/>
        </p:nvSpPr>
        <p:spPr>
          <a:xfrm>
            <a:off x="4892040" y="4206240"/>
            <a:ext cx="0" cy="137160"/>
          </a:xfrm>
          <a:prstGeom prst="line">
            <a:avLst/>
          </a:prstGeom>
          <a:noFill/>
          <a:ln w="22225">
            <a:solidFill>
              <a:srgbClr val="5B6774"/>
            </a:solidFill>
            <a:prstDash val="solid"/>
            <a:tailEnd type="triangle"/>
          </a:ln>
        </p:spPr>
      </p:sp>
      <p:sp>
        <p:nvSpPr>
          <p:cNvPr id="32" name="Shape 29"/>
          <p:cNvSpPr/>
          <p:nvPr/>
        </p:nvSpPr>
        <p:spPr>
          <a:xfrm>
            <a:off x="6720840" y="2834640"/>
            <a:ext cx="1417320" cy="0"/>
          </a:xfrm>
          <a:prstGeom prst="line">
            <a:avLst/>
          </a:prstGeom>
          <a:noFill/>
          <a:ln w="25400">
            <a:solidFill>
              <a:srgbClr val="12395C"/>
            </a:solidFill>
            <a:prstDash val="solid"/>
            <a:tailEnd type="triangle"/>
          </a:ln>
        </p:spPr>
      </p:sp>
      <p:sp>
        <p:nvSpPr>
          <p:cNvPr id="33" name="Shape 30"/>
          <p:cNvSpPr/>
          <p:nvPr/>
        </p:nvSpPr>
        <p:spPr>
          <a:xfrm>
            <a:off x="6720840" y="2834640"/>
            <a:ext cx="1417320" cy="0"/>
          </a:xfrm>
          <a:prstGeom prst="line">
            <a:avLst/>
          </a:prstGeom>
          <a:noFill/>
          <a:ln w="25400">
            <a:solidFill>
              <a:srgbClr val="12395C"/>
            </a:solidFill>
            <a:prstDash val="solid"/>
            <a:headEnd type="triangle"/>
            <a:tailEnd type="triangle"/>
          </a:ln>
        </p:spPr>
      </p:sp>
      <p:sp>
        <p:nvSpPr>
          <p:cNvPr id="34" name="Text 31"/>
          <p:cNvSpPr/>
          <p:nvPr/>
        </p:nvSpPr>
        <p:spPr>
          <a:xfrm>
            <a:off x="6537960" y="2450592"/>
            <a:ext cx="1874520" cy="274320"/>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REST API + API Key nội bộ (HTTPS)</a:t>
            </a:r>
            <a:endParaRPr lang="en-US" sz="1000" dirty="0"/>
          </a:p>
        </p:txBody>
      </p:sp>
      <p:sp>
        <p:nvSpPr>
          <p:cNvPr id="35" name="Text 32"/>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36" name="Text 33"/>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ỨNG DỤNG AI</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Ba kỹ thuật cùng phối hợp</a:t>
            </a:r>
            <a:endParaRPr lang="en-US" sz="3000" dirty="0"/>
          </a:p>
        </p:txBody>
      </p:sp>
      <p:sp>
        <p:nvSpPr>
          <p:cNvPr id="4" name="Shape 2"/>
          <p:cNvSpPr/>
          <p:nvPr/>
        </p:nvSpPr>
        <p:spPr>
          <a:xfrm>
            <a:off x="548640" y="1874520"/>
            <a:ext cx="3393338" cy="4114800"/>
          </a:xfrm>
          <a:prstGeom prst="roundRect">
            <a:avLst>
              <a:gd name="adj" fmla="val 2425"/>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5" name="Shape 3"/>
          <p:cNvSpPr/>
          <p:nvPr/>
        </p:nvSpPr>
        <p:spPr>
          <a:xfrm>
            <a:off x="1719529" y="2263140"/>
            <a:ext cx="1051560" cy="1051560"/>
          </a:xfrm>
          <a:prstGeom prst="ellipse">
            <a:avLst/>
          </a:prstGeom>
          <a:solidFill>
            <a:srgbClr val="12395C"/>
          </a:solidFill>
          <a:ln/>
        </p:spPr>
      </p:sp>
      <p:pic>
        <p:nvPicPr>
          <p:cNvPr id="6" name="Image 0" descr="/home/claude/output2/icons/yolo.png">    </p:cNvPr>
          <p:cNvPicPr>
            <a:picLocks noChangeAspect="1"/>
          </p:cNvPicPr>
          <p:nvPr/>
        </p:nvPicPr>
        <p:blipFill>
          <a:blip r:embed="rId1"/>
          <a:stretch>
            <a:fillRect/>
          </a:stretch>
        </p:blipFill>
        <p:spPr>
          <a:xfrm>
            <a:off x="1982419" y="2526030"/>
            <a:ext cx="525780" cy="525780"/>
          </a:xfrm>
          <a:prstGeom prst="rect">
            <a:avLst/>
          </a:prstGeom>
        </p:spPr>
      </p:pic>
      <p:sp>
        <p:nvSpPr>
          <p:cNvPr id="7" name="Text 4"/>
          <p:cNvSpPr/>
          <p:nvPr/>
        </p:nvSpPr>
        <p:spPr>
          <a:xfrm>
            <a:off x="731520" y="3474720"/>
            <a:ext cx="3027578" cy="457200"/>
          </a:xfrm>
          <a:prstGeom prst="rect">
            <a:avLst/>
          </a:prstGeom>
          <a:noFill/>
          <a:ln/>
        </p:spPr>
        <p:txBody>
          <a:bodyPr wrap="square" rtlCol="0" anchor="ctr"/>
          <a:lstStyle/>
          <a:p>
            <a:pPr algn="ctr" indent="0" marL="0">
              <a:buNone/>
            </a:pPr>
            <a:r>
              <a:rPr lang="en-US" sz="2000" b="1" dirty="0">
                <a:solidFill>
                  <a:srgbClr val="12395C"/>
                </a:solidFill>
                <a:latin typeface="Cambria" pitchFamily="34" charset="0"/>
                <a:ea typeface="Cambria" pitchFamily="34" charset="-122"/>
                <a:cs typeface="Cambria" pitchFamily="34" charset="-120"/>
              </a:rPr>
              <a:t>YOLOv11</a:t>
            </a:r>
            <a:endParaRPr lang="en-US" sz="2000" dirty="0"/>
          </a:p>
        </p:txBody>
      </p:sp>
      <p:sp>
        <p:nvSpPr>
          <p:cNvPr id="8" name="Shape 5"/>
          <p:cNvSpPr/>
          <p:nvPr/>
        </p:nvSpPr>
        <p:spPr>
          <a:xfrm>
            <a:off x="1239469" y="3977640"/>
            <a:ext cx="2011680" cy="329184"/>
          </a:xfrm>
          <a:prstGeom prst="roundRect">
            <a:avLst>
              <a:gd name="adj" fmla="val 50000"/>
            </a:avLst>
          </a:prstGeom>
          <a:solidFill>
            <a:srgbClr val="12395C"/>
          </a:solidFill>
          <a:ln w="9525">
            <a:solidFill>
              <a:srgbClr val="12395C"/>
            </a:solidFill>
            <a:prstDash val="solid"/>
          </a:ln>
        </p:spPr>
      </p:sp>
      <p:sp>
        <p:nvSpPr>
          <p:cNvPr id="9" name="Text 6"/>
          <p:cNvSpPr/>
          <p:nvPr/>
        </p:nvSpPr>
        <p:spPr>
          <a:xfrm>
            <a:off x="1285189" y="3977640"/>
            <a:ext cx="192024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Học sâu (Deep Learning)</a:t>
            </a:r>
            <a:endParaRPr lang="en-US" sz="1100" dirty="0"/>
          </a:p>
        </p:txBody>
      </p:sp>
      <p:sp>
        <p:nvSpPr>
          <p:cNvPr id="10" name="Text 7"/>
          <p:cNvSpPr/>
          <p:nvPr/>
        </p:nvSpPr>
        <p:spPr>
          <a:xfrm>
            <a:off x="822960" y="4480560"/>
            <a:ext cx="2844698" cy="1371600"/>
          </a:xfrm>
          <a:prstGeom prst="rect">
            <a:avLst/>
          </a:prstGeom>
          <a:noFill/>
          <a:ln/>
        </p:spPr>
        <p:txBody>
          <a:bodyPr wrap="square" rtlCol="0" anchor="t"/>
          <a:lstStyle/>
          <a:p>
            <a:pPr algn="ctr" indent="0" marL="0">
              <a:buNone/>
            </a:pPr>
            <a:r>
              <a:rPr lang="en-US" sz="1300" dirty="0">
                <a:solidFill>
                  <a:srgbClr val="16212E"/>
                </a:solidFill>
                <a:latin typeface="Calibri" pitchFamily="34" charset="0"/>
                <a:ea typeface="Calibri" pitchFamily="34" charset="-122"/>
                <a:cs typeface="Calibri" pitchFamily="34" charset="-120"/>
              </a:rPr>
              <a:t>Mô hình phát hiện đối tượng, khoanh vùng nghi gãy xương và cho điểm tin cậy.</a:t>
            </a:r>
            <a:endParaRPr lang="en-US" sz="1300" dirty="0"/>
          </a:p>
        </p:txBody>
      </p:sp>
      <p:sp>
        <p:nvSpPr>
          <p:cNvPr id="11" name="Shape 8"/>
          <p:cNvSpPr/>
          <p:nvPr/>
        </p:nvSpPr>
        <p:spPr>
          <a:xfrm>
            <a:off x="4399178" y="1874520"/>
            <a:ext cx="3393338" cy="4114800"/>
          </a:xfrm>
          <a:prstGeom prst="roundRect">
            <a:avLst>
              <a:gd name="adj" fmla="val 2425"/>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2" name="Shape 9"/>
          <p:cNvSpPr/>
          <p:nvPr/>
        </p:nvSpPr>
        <p:spPr>
          <a:xfrm>
            <a:off x="5570068" y="2263140"/>
            <a:ext cx="1051560" cy="1051560"/>
          </a:xfrm>
          <a:prstGeom prst="ellipse">
            <a:avLst/>
          </a:prstGeom>
          <a:solidFill>
            <a:srgbClr val="1C7293"/>
          </a:solidFill>
          <a:ln/>
        </p:spPr>
      </p:sp>
      <p:pic>
        <p:nvPicPr>
          <p:cNvPr id="13" name="Image 1" descr="/home/claude/output2/icons/fractal.png">    </p:cNvPr>
          <p:cNvPicPr>
            <a:picLocks noChangeAspect="1"/>
          </p:cNvPicPr>
          <p:nvPr/>
        </p:nvPicPr>
        <p:blipFill>
          <a:blip r:embed="rId2"/>
          <a:stretch>
            <a:fillRect/>
          </a:stretch>
        </p:blipFill>
        <p:spPr>
          <a:xfrm>
            <a:off x="5832958" y="2526030"/>
            <a:ext cx="525780" cy="525780"/>
          </a:xfrm>
          <a:prstGeom prst="rect">
            <a:avLst/>
          </a:prstGeom>
        </p:spPr>
      </p:pic>
      <p:sp>
        <p:nvSpPr>
          <p:cNvPr id="14" name="Text 10"/>
          <p:cNvSpPr/>
          <p:nvPr/>
        </p:nvSpPr>
        <p:spPr>
          <a:xfrm>
            <a:off x="4582058" y="3474720"/>
            <a:ext cx="3027578" cy="457200"/>
          </a:xfrm>
          <a:prstGeom prst="rect">
            <a:avLst/>
          </a:prstGeom>
          <a:noFill/>
          <a:ln/>
        </p:spPr>
        <p:txBody>
          <a:bodyPr wrap="square" rtlCol="0" anchor="ctr"/>
          <a:lstStyle/>
          <a:p>
            <a:pPr algn="ctr" indent="0" marL="0">
              <a:buNone/>
            </a:pPr>
            <a:r>
              <a:rPr lang="en-US" sz="2000" b="1" dirty="0">
                <a:solidFill>
                  <a:srgbClr val="12395C"/>
                </a:solidFill>
                <a:latin typeface="Cambria" pitchFamily="34" charset="0"/>
                <a:ea typeface="Cambria" pitchFamily="34" charset="-122"/>
                <a:cs typeface="Cambria" pitchFamily="34" charset="-120"/>
              </a:rPr>
              <a:t>Fractal Box-Counting</a:t>
            </a:r>
            <a:endParaRPr lang="en-US" sz="2000" dirty="0"/>
          </a:p>
        </p:txBody>
      </p:sp>
      <p:sp>
        <p:nvSpPr>
          <p:cNvPr id="15" name="Shape 11"/>
          <p:cNvSpPr/>
          <p:nvPr/>
        </p:nvSpPr>
        <p:spPr>
          <a:xfrm>
            <a:off x="5090008" y="3977640"/>
            <a:ext cx="2011680" cy="329184"/>
          </a:xfrm>
          <a:prstGeom prst="roundRect">
            <a:avLst>
              <a:gd name="adj" fmla="val 50000"/>
            </a:avLst>
          </a:prstGeom>
          <a:solidFill>
            <a:srgbClr val="1C7293"/>
          </a:solidFill>
          <a:ln w="9525">
            <a:solidFill>
              <a:srgbClr val="1C7293"/>
            </a:solidFill>
            <a:prstDash val="solid"/>
          </a:ln>
        </p:spPr>
      </p:sp>
      <p:sp>
        <p:nvSpPr>
          <p:cNvPr id="16" name="Text 12"/>
          <p:cNvSpPr/>
          <p:nvPr/>
        </p:nvSpPr>
        <p:spPr>
          <a:xfrm>
            <a:off x="5135728" y="3977640"/>
            <a:ext cx="192024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Thuật toán cổ điển</a:t>
            </a:r>
            <a:endParaRPr lang="en-US" sz="1100" dirty="0"/>
          </a:p>
        </p:txBody>
      </p:sp>
      <p:sp>
        <p:nvSpPr>
          <p:cNvPr id="17" name="Text 13"/>
          <p:cNvSpPr/>
          <p:nvPr/>
        </p:nvSpPr>
        <p:spPr>
          <a:xfrm>
            <a:off x="4673498" y="4480560"/>
            <a:ext cx="2844698" cy="1371600"/>
          </a:xfrm>
          <a:prstGeom prst="rect">
            <a:avLst/>
          </a:prstGeom>
          <a:noFill/>
          <a:ln/>
        </p:spPr>
        <p:txBody>
          <a:bodyPr wrap="square" rtlCol="0" anchor="t"/>
          <a:lstStyle/>
          <a:p>
            <a:pPr algn="ctr" indent="0" marL="0">
              <a:buNone/>
            </a:pPr>
            <a:r>
              <a:rPr lang="en-US" sz="1300" dirty="0">
                <a:solidFill>
                  <a:srgbClr val="16212E"/>
                </a:solidFill>
                <a:latin typeface="Calibri" pitchFamily="34" charset="0"/>
                <a:ea typeface="Calibri" pitchFamily="34" charset="-122"/>
                <a:cs typeface="Calibri" pitchFamily="34" charset="-120"/>
              </a:rPr>
              <a:t>Đo độ gồ ghề viền xương bằng toán học — không cần dữ liệu huấn luyện.</a:t>
            </a:r>
            <a:endParaRPr lang="en-US" sz="1300" dirty="0"/>
          </a:p>
        </p:txBody>
      </p:sp>
      <p:sp>
        <p:nvSpPr>
          <p:cNvPr id="18" name="Shape 14"/>
          <p:cNvSpPr/>
          <p:nvPr/>
        </p:nvSpPr>
        <p:spPr>
          <a:xfrm>
            <a:off x="8249717" y="1874520"/>
            <a:ext cx="3393338" cy="4114800"/>
          </a:xfrm>
          <a:prstGeom prst="roundRect">
            <a:avLst>
              <a:gd name="adj" fmla="val 2425"/>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9" name="Shape 15"/>
          <p:cNvSpPr/>
          <p:nvPr/>
        </p:nvSpPr>
        <p:spPr>
          <a:xfrm>
            <a:off x="9420606" y="2263140"/>
            <a:ext cx="1051560" cy="1051560"/>
          </a:xfrm>
          <a:prstGeom prst="ellipse">
            <a:avLst/>
          </a:prstGeom>
          <a:solidFill>
            <a:srgbClr val="D97C2B"/>
          </a:solidFill>
          <a:ln/>
        </p:spPr>
      </p:sp>
      <p:pic>
        <p:nvPicPr>
          <p:cNvPr id="20" name="Image 2" descr="/home/claude/output2/icons/anfis.png">    </p:cNvPr>
          <p:cNvPicPr>
            <a:picLocks noChangeAspect="1"/>
          </p:cNvPicPr>
          <p:nvPr/>
        </p:nvPicPr>
        <p:blipFill>
          <a:blip r:embed="rId3"/>
          <a:stretch>
            <a:fillRect/>
          </a:stretch>
        </p:blipFill>
        <p:spPr>
          <a:xfrm>
            <a:off x="9683496" y="2526030"/>
            <a:ext cx="525780" cy="525780"/>
          </a:xfrm>
          <a:prstGeom prst="rect">
            <a:avLst/>
          </a:prstGeom>
        </p:spPr>
      </p:pic>
      <p:sp>
        <p:nvSpPr>
          <p:cNvPr id="21" name="Text 16"/>
          <p:cNvSpPr/>
          <p:nvPr/>
        </p:nvSpPr>
        <p:spPr>
          <a:xfrm>
            <a:off x="8432597" y="3474720"/>
            <a:ext cx="3027578" cy="457200"/>
          </a:xfrm>
          <a:prstGeom prst="rect">
            <a:avLst/>
          </a:prstGeom>
          <a:noFill/>
          <a:ln/>
        </p:spPr>
        <p:txBody>
          <a:bodyPr wrap="square" rtlCol="0" anchor="ctr"/>
          <a:lstStyle/>
          <a:p>
            <a:pPr algn="ctr" indent="0" marL="0">
              <a:buNone/>
            </a:pPr>
            <a:r>
              <a:rPr lang="en-US" sz="2000" b="1" dirty="0">
                <a:solidFill>
                  <a:srgbClr val="12395C"/>
                </a:solidFill>
                <a:latin typeface="Cambria" pitchFamily="34" charset="0"/>
                <a:ea typeface="Cambria" pitchFamily="34" charset="-122"/>
                <a:cs typeface="Cambria" pitchFamily="34" charset="-120"/>
              </a:rPr>
              <a:t>ANFIS</a:t>
            </a:r>
            <a:endParaRPr lang="en-US" sz="2000" dirty="0"/>
          </a:p>
        </p:txBody>
      </p:sp>
      <p:sp>
        <p:nvSpPr>
          <p:cNvPr id="22" name="Shape 17"/>
          <p:cNvSpPr/>
          <p:nvPr/>
        </p:nvSpPr>
        <p:spPr>
          <a:xfrm>
            <a:off x="8940546" y="3977640"/>
            <a:ext cx="2011680" cy="329184"/>
          </a:xfrm>
          <a:prstGeom prst="roundRect">
            <a:avLst>
              <a:gd name="adj" fmla="val 50000"/>
            </a:avLst>
          </a:prstGeom>
          <a:solidFill>
            <a:srgbClr val="D97C2B"/>
          </a:solidFill>
          <a:ln w="9525">
            <a:solidFill>
              <a:srgbClr val="D97C2B"/>
            </a:solidFill>
            <a:prstDash val="solid"/>
          </a:ln>
        </p:spPr>
      </p:sp>
      <p:sp>
        <p:nvSpPr>
          <p:cNvPr id="23" name="Text 18"/>
          <p:cNvSpPr/>
          <p:nvPr/>
        </p:nvSpPr>
        <p:spPr>
          <a:xfrm>
            <a:off x="8986266" y="3977640"/>
            <a:ext cx="192024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Neuro-Fuzzy</a:t>
            </a:r>
            <a:endParaRPr lang="en-US" sz="1100" dirty="0"/>
          </a:p>
        </p:txBody>
      </p:sp>
      <p:sp>
        <p:nvSpPr>
          <p:cNvPr id="24" name="Text 19"/>
          <p:cNvSpPr/>
          <p:nvPr/>
        </p:nvSpPr>
        <p:spPr>
          <a:xfrm>
            <a:off x="8524037" y="4480560"/>
            <a:ext cx="2844698" cy="1371600"/>
          </a:xfrm>
          <a:prstGeom prst="rect">
            <a:avLst/>
          </a:prstGeom>
          <a:noFill/>
          <a:ln/>
        </p:spPr>
        <p:txBody>
          <a:bodyPr wrap="square" rtlCol="0" anchor="t"/>
          <a:lstStyle/>
          <a:p>
            <a:pPr algn="ctr" indent="0" marL="0">
              <a:buNone/>
            </a:pPr>
            <a:r>
              <a:rPr lang="en-US" sz="1300" dirty="0">
                <a:solidFill>
                  <a:srgbClr val="16212E"/>
                </a:solidFill>
                <a:latin typeface="Calibri" pitchFamily="34" charset="0"/>
                <a:ea typeface="Calibri" pitchFamily="34" charset="-122"/>
                <a:cs typeface="Calibri" pitchFamily="34" charset="-120"/>
              </a:rPr>
              <a:t>Tổng hợp toàn bộ đặc trưng, ra quyết định cuối: điểm rủi ro gãy xương 0–100.</a:t>
            </a:r>
            <a:endParaRPr lang="en-US" sz="1300" dirty="0"/>
          </a:p>
        </p:txBody>
      </p:sp>
      <p:sp>
        <p:nvSpPr>
          <p:cNvPr id="25" name="Text 20"/>
          <p:cNvSpPr/>
          <p:nvPr/>
        </p:nvSpPr>
        <p:spPr>
          <a:xfrm>
            <a:off x="548640" y="6172200"/>
            <a:ext cx="11094415" cy="274320"/>
          </a:xfrm>
          <a:prstGeom prst="rect">
            <a:avLst/>
          </a:prstGeom>
          <a:noFill/>
          <a:ln/>
        </p:spPr>
        <p:txBody>
          <a:bodyPr wrap="square" rtlCol="0" anchor="ctr"/>
          <a:lstStyle/>
          <a:p>
            <a:pPr algn="ctr" indent="0" marL="0">
              <a:buNone/>
            </a:pPr>
            <a:r>
              <a:rPr lang="en-US" sz="1200" i="1" dirty="0">
                <a:solidFill>
                  <a:srgbClr val="5B6774"/>
                </a:solidFill>
                <a:latin typeface="Calibri" pitchFamily="34" charset="0"/>
                <a:ea typeface="Calibri" pitchFamily="34" charset="-122"/>
                <a:cs typeface="Calibri" pitchFamily="34" charset="-120"/>
              </a:rPr>
              <a:t>Ba phần tiếp theo sẽ đi sâu vào từng kỹ thuật</a:t>
            </a:r>
            <a:endParaRPr lang="en-US" sz="1200" dirty="0"/>
          </a:p>
        </p:txBody>
      </p:sp>
      <p:sp>
        <p:nvSpPr>
          <p:cNvPr id="26" name="Text 21"/>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27" name="Text 22"/>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KỸ THUẬT AI 1 / 3</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YOLOv11 — Phát hiện vùng nghi gãy</a:t>
            </a:r>
            <a:endParaRPr lang="en-US" sz="3000" dirty="0"/>
          </a:p>
        </p:txBody>
      </p:sp>
      <p:sp>
        <p:nvSpPr>
          <p:cNvPr id="4" name="Shape 2"/>
          <p:cNvSpPr/>
          <p:nvPr/>
        </p:nvSpPr>
        <p:spPr>
          <a:xfrm>
            <a:off x="822960" y="2423160"/>
            <a:ext cx="1737360" cy="1737360"/>
          </a:xfrm>
          <a:prstGeom prst="ellipse">
            <a:avLst/>
          </a:prstGeom>
          <a:solidFill>
            <a:srgbClr val="12395C"/>
          </a:solidFill>
          <a:ln/>
        </p:spPr>
      </p:sp>
      <p:pic>
        <p:nvPicPr>
          <p:cNvPr id="5" name="Image 0" descr="/home/claude/output2/icons/yolo.png">    </p:cNvPr>
          <p:cNvPicPr>
            <a:picLocks noChangeAspect="1"/>
          </p:cNvPicPr>
          <p:nvPr/>
        </p:nvPicPr>
        <p:blipFill>
          <a:blip r:embed="rId1"/>
          <a:stretch>
            <a:fillRect/>
          </a:stretch>
        </p:blipFill>
        <p:spPr>
          <a:xfrm>
            <a:off x="1257300" y="2857500"/>
            <a:ext cx="868680" cy="868680"/>
          </a:xfrm>
          <a:prstGeom prst="rect">
            <a:avLst/>
          </a:prstGeom>
        </p:spPr>
      </p:pic>
      <p:sp>
        <p:nvSpPr>
          <p:cNvPr id="6" name="Text 3"/>
          <p:cNvSpPr/>
          <p:nvPr/>
        </p:nvSpPr>
        <p:spPr>
          <a:xfrm>
            <a:off x="3063240" y="1783080"/>
            <a:ext cx="8579815" cy="3931920"/>
          </a:xfrm>
          <a:prstGeom prst="rect">
            <a:avLst/>
          </a:prstGeom>
          <a:noFill/>
          <a:ln/>
        </p:spPr>
        <p:txBody>
          <a:bodyPr wrap="square" rtlCol="0" anchor="t"/>
          <a:lstStyle/>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Mô hình object detection học sâu (Ultralytics YOLOv11) — trọng số đã được huấn luyện/tinh chỉnh riêng cho ảnh X-quang xương.</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Ngưỡng tin cậy (confidence threshold) = 0.25 — cố tình giữ thấp để không bỏ sót vùng nghi ngờ nhẹ.</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Đầu ra mỗi vùng phát hiện: toạ độ khung bao (bounding box) + điểm tin cậy (confidence) của YOLO.</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Thế mạnh: nhận diện chính xác các dạng gãy điển hình, rõ nét mà mô hình đã học được.</a:t>
            </a:r>
            <a:endParaRPr lang="en-US" sz="1550" dirty="0"/>
          </a:p>
        </p:txBody>
      </p:sp>
      <p:sp>
        <p:nvSpPr>
          <p:cNvPr id="7" name="Shape 4"/>
          <p:cNvSpPr/>
          <p:nvPr/>
        </p:nvSpPr>
        <p:spPr>
          <a:xfrm>
            <a:off x="685800" y="4709160"/>
            <a:ext cx="2011680" cy="1051560"/>
          </a:xfrm>
          <a:prstGeom prst="roundRect">
            <a:avLst>
              <a:gd name="adj" fmla="val 7826"/>
            </a:avLst>
          </a:prstGeom>
          <a:solidFill>
            <a:srgbClr val="E2EBF3"/>
          </a:solidFill>
          <a:ln w="12700">
            <a:solidFill>
              <a:srgbClr val="D6DEE6"/>
            </a:solidFill>
            <a:prstDash val="solid"/>
          </a:ln>
        </p:spPr>
      </p:sp>
      <p:sp>
        <p:nvSpPr>
          <p:cNvPr id="8" name="Text 5"/>
          <p:cNvSpPr/>
          <p:nvPr/>
        </p:nvSpPr>
        <p:spPr>
          <a:xfrm>
            <a:off x="685800" y="4709160"/>
            <a:ext cx="2011680" cy="1051560"/>
          </a:xfrm>
          <a:prstGeom prst="rect">
            <a:avLst/>
          </a:prstGeom>
          <a:noFill/>
          <a:ln/>
        </p:spPr>
        <p:txBody>
          <a:bodyPr wrap="square" rtlCol="0" anchor="ctr"/>
          <a:lstStyle/>
          <a:p>
            <a:pPr algn="ctr" indent="0" marL="0">
              <a:buNone/>
            </a:pPr>
            <a:r>
              <a:rPr lang="en-US" sz="1400" b="1" dirty="0">
                <a:solidFill>
                  <a:srgbClr val="12395C"/>
                </a:solidFill>
                <a:latin typeface="Calibri" pitchFamily="34" charset="0"/>
                <a:ea typeface="Calibri" pitchFamily="34" charset="-122"/>
                <a:cs typeface="Calibri" pitchFamily="34" charset="-120"/>
              </a:rPr>
              <a:t>conf ≥ 0.25</a:t>
            </a:r>
            <a:pPr algn="ctr" indent="0" marL="0">
              <a:buNone/>
            </a:pPr>
            <a:endParaRPr lang="en-US" sz="1400" dirty="0"/>
          </a:p>
          <a:p>
            <a:pPr algn="ctr" indent="0" marL="0">
              <a:buNone/>
            </a:pPr>
            <a:r>
              <a:rPr lang="en-US" sz="1050" dirty="0">
                <a:solidFill>
                  <a:srgbClr val="5B6774"/>
                </a:solidFill>
                <a:latin typeface="Calibri" pitchFamily="34" charset="0"/>
                <a:ea typeface="Calibri" pitchFamily="34" charset="-122"/>
                <a:cs typeface="Calibri" pitchFamily="34" charset="-120"/>
              </a:rPr>
              <a:t>giữ lại để không bỏ sót</a:t>
            </a:r>
            <a:endParaRPr lang="en-US" sz="1400" dirty="0"/>
          </a:p>
        </p:txBody>
      </p:sp>
      <p:sp>
        <p:nvSpPr>
          <p:cNvPr id="9" name="Text 6"/>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10" name="Text 7"/>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KỸ THUẬT AI 2 / 3</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Fractal Box-Counting — Lưới an toàn bổ sung</a:t>
            </a:r>
            <a:endParaRPr lang="en-US" sz="3000" dirty="0"/>
          </a:p>
        </p:txBody>
      </p:sp>
      <p:sp>
        <p:nvSpPr>
          <p:cNvPr id="4" name="Shape 2"/>
          <p:cNvSpPr/>
          <p:nvPr/>
        </p:nvSpPr>
        <p:spPr>
          <a:xfrm>
            <a:off x="822960" y="2423160"/>
            <a:ext cx="1737360" cy="1737360"/>
          </a:xfrm>
          <a:prstGeom prst="ellipse">
            <a:avLst/>
          </a:prstGeom>
          <a:solidFill>
            <a:srgbClr val="1C7293"/>
          </a:solidFill>
          <a:ln/>
        </p:spPr>
      </p:sp>
      <p:pic>
        <p:nvPicPr>
          <p:cNvPr id="5" name="Image 0" descr="/home/claude/output2/icons/fractal.png">    </p:cNvPr>
          <p:cNvPicPr>
            <a:picLocks noChangeAspect="1"/>
          </p:cNvPicPr>
          <p:nvPr/>
        </p:nvPicPr>
        <p:blipFill>
          <a:blip r:embed="rId1"/>
          <a:stretch>
            <a:fillRect/>
          </a:stretch>
        </p:blipFill>
        <p:spPr>
          <a:xfrm>
            <a:off x="1257300" y="2857500"/>
            <a:ext cx="868680" cy="868680"/>
          </a:xfrm>
          <a:prstGeom prst="rect">
            <a:avLst/>
          </a:prstGeom>
        </p:spPr>
      </p:pic>
      <p:sp>
        <p:nvSpPr>
          <p:cNvPr id="6" name="Text 3"/>
          <p:cNvSpPr/>
          <p:nvPr/>
        </p:nvSpPr>
        <p:spPr>
          <a:xfrm>
            <a:off x="3063240" y="1783080"/>
            <a:ext cx="8579815" cy="3931920"/>
          </a:xfrm>
          <a:prstGeom prst="rect">
            <a:avLst/>
          </a:prstGeom>
          <a:noFill/>
          <a:ln/>
        </p:spPr>
        <p:txBody>
          <a:bodyPr wrap="square" rtlCol="0" anchor="t"/>
          <a:lstStyle/>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Thuật toán toán học cổ điển — KHÔNG cần huấn luyện, không cần dữ liệu gán nhãn.</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Trích biên ảnh (adaptive Canny + connected components), rồi đo “độ gồ ghề” của viền xương bằng fractal dimension (box-counting).</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Viền càng bất thường, gồ ghề → fractal dimension càng cao → khả năng gãy càng lớn.</a:t>
            </a:r>
            <a:endParaRPr lang="en-US" sz="1550" dirty="0"/>
          </a:p>
          <a:p>
            <a:pPr marL="342900" indent="-342900">
              <a:spcAft>
                <a:spcPts val="1400"/>
              </a:spcAft>
              <a:buSzPct val="100000"/>
              <a:buChar char="✦"/>
            </a:pPr>
            <a:r>
              <a:rPr lang="en-US" sz="1550" dirty="0">
                <a:solidFill>
                  <a:srgbClr val="16212E"/>
                </a:solidFill>
                <a:latin typeface="Calibri" pitchFamily="34" charset="0"/>
                <a:ea typeface="Calibri" pitchFamily="34" charset="-122"/>
                <a:cs typeface="Calibri" pitchFamily="34" charset="-120"/>
              </a:rPr>
              <a:t>Vai trò: lưới an toàn song song với YOLO — bắt các ca có hình dạng lạ mà YOLO chưa từng thấy trong lúc huấn luyện.</a:t>
            </a:r>
            <a:endParaRPr lang="en-US" sz="1550" dirty="0"/>
          </a:p>
        </p:txBody>
      </p:sp>
      <p:sp>
        <p:nvSpPr>
          <p:cNvPr id="7" name="Shape 4"/>
          <p:cNvSpPr/>
          <p:nvPr/>
        </p:nvSpPr>
        <p:spPr>
          <a:xfrm>
            <a:off x="548640" y="4709160"/>
            <a:ext cx="2286000" cy="1051560"/>
          </a:xfrm>
          <a:prstGeom prst="roundRect">
            <a:avLst>
              <a:gd name="adj" fmla="val 7826"/>
            </a:avLst>
          </a:prstGeom>
          <a:solidFill>
            <a:srgbClr val="E2EBF3"/>
          </a:solidFill>
          <a:ln w="12700">
            <a:solidFill>
              <a:srgbClr val="D6DEE6"/>
            </a:solidFill>
            <a:prstDash val="solid"/>
          </a:ln>
        </p:spPr>
      </p:sp>
      <p:sp>
        <p:nvSpPr>
          <p:cNvPr id="8" name="Text 5"/>
          <p:cNvSpPr/>
          <p:nvPr/>
        </p:nvSpPr>
        <p:spPr>
          <a:xfrm>
            <a:off x="548640" y="4709160"/>
            <a:ext cx="2286000" cy="1051560"/>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Không cần dataset</a:t>
            </a:r>
            <a:pPr algn="ctr" indent="0" marL="0">
              <a:buNone/>
            </a:pPr>
            <a:endParaRPr lang="en-US" sz="1300" dirty="0"/>
          </a:p>
          <a:p>
            <a:pPr algn="ctr" indent="0" marL="0">
              <a:buNone/>
            </a:pPr>
            <a:r>
              <a:rPr lang="en-US" sz="1050" dirty="0">
                <a:solidFill>
                  <a:srgbClr val="5B6774"/>
                </a:solidFill>
                <a:latin typeface="Calibri" pitchFamily="34" charset="0"/>
                <a:ea typeface="Calibri" pitchFamily="34" charset="-122"/>
                <a:cs typeface="Calibri" pitchFamily="34" charset="-120"/>
              </a:rPr>
              <a:t>chạy được ngay trên mọi ảnh</a:t>
            </a:r>
            <a:endParaRPr lang="en-US" sz="1300" dirty="0"/>
          </a:p>
        </p:txBody>
      </p:sp>
      <p:sp>
        <p:nvSpPr>
          <p:cNvPr id="9" name="Text 6"/>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10" name="Text 7"/>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KỸ THUẬT AI — BƯỚC TRUNG GIAN</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Gộp kết quả &amp; Trích 9 đặc trưng</a:t>
            </a:r>
            <a:endParaRPr lang="en-US" sz="3000" dirty="0"/>
          </a:p>
        </p:txBody>
      </p:sp>
      <p:sp>
        <p:nvSpPr>
          <p:cNvPr id="4" name="Shape 2"/>
          <p:cNvSpPr/>
          <p:nvPr/>
        </p:nvSpPr>
        <p:spPr>
          <a:xfrm>
            <a:off x="640080" y="1783080"/>
            <a:ext cx="2377440" cy="548640"/>
          </a:xfrm>
          <a:prstGeom prst="roundRect">
            <a:avLst>
              <a:gd name="adj" fmla="val 50000"/>
            </a:avLst>
          </a:prstGeom>
          <a:solidFill>
            <a:srgbClr val="12395C"/>
          </a:solidFill>
          <a:ln w="9525">
            <a:solidFill>
              <a:srgbClr val="12395C"/>
            </a:solidFill>
            <a:prstDash val="solid"/>
          </a:ln>
        </p:spPr>
      </p:sp>
      <p:sp>
        <p:nvSpPr>
          <p:cNvPr id="5" name="Text 3"/>
          <p:cNvSpPr/>
          <p:nvPr/>
        </p:nvSpPr>
        <p:spPr>
          <a:xfrm>
            <a:off x="685800" y="1783080"/>
            <a:ext cx="22860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YOLOv11</a:t>
            </a:r>
            <a:endParaRPr lang="en-US" sz="1400" dirty="0"/>
          </a:p>
        </p:txBody>
      </p:sp>
      <p:sp>
        <p:nvSpPr>
          <p:cNvPr id="6" name="Shape 4"/>
          <p:cNvSpPr/>
          <p:nvPr/>
        </p:nvSpPr>
        <p:spPr>
          <a:xfrm>
            <a:off x="640080" y="2560320"/>
            <a:ext cx="2377440" cy="548640"/>
          </a:xfrm>
          <a:prstGeom prst="roundRect">
            <a:avLst>
              <a:gd name="adj" fmla="val 50000"/>
            </a:avLst>
          </a:prstGeom>
          <a:solidFill>
            <a:srgbClr val="1C7293"/>
          </a:solidFill>
          <a:ln w="9525">
            <a:solidFill>
              <a:srgbClr val="1C7293"/>
            </a:solidFill>
            <a:prstDash val="solid"/>
          </a:ln>
        </p:spPr>
      </p:sp>
      <p:sp>
        <p:nvSpPr>
          <p:cNvPr id="7" name="Text 5"/>
          <p:cNvSpPr/>
          <p:nvPr/>
        </p:nvSpPr>
        <p:spPr>
          <a:xfrm>
            <a:off x="685800" y="2560320"/>
            <a:ext cx="22860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Fractal</a:t>
            </a:r>
            <a:endParaRPr lang="en-US" sz="1400" dirty="0"/>
          </a:p>
        </p:txBody>
      </p:sp>
      <p:sp>
        <p:nvSpPr>
          <p:cNvPr id="8" name="Shape 6"/>
          <p:cNvSpPr/>
          <p:nvPr/>
        </p:nvSpPr>
        <p:spPr>
          <a:xfrm>
            <a:off x="3063240" y="2057400"/>
            <a:ext cx="731520" cy="0"/>
          </a:xfrm>
          <a:prstGeom prst="line">
            <a:avLst/>
          </a:prstGeom>
          <a:noFill/>
          <a:ln w="22225">
            <a:solidFill>
              <a:srgbClr val="12395C"/>
            </a:solidFill>
            <a:prstDash val="solid"/>
            <a:tailEnd type="none"/>
          </a:ln>
        </p:spPr>
      </p:sp>
      <p:sp>
        <p:nvSpPr>
          <p:cNvPr id="9" name="Shape 7"/>
          <p:cNvSpPr/>
          <p:nvPr/>
        </p:nvSpPr>
        <p:spPr>
          <a:xfrm>
            <a:off x="3063240" y="2834640"/>
            <a:ext cx="731520" cy="0"/>
          </a:xfrm>
          <a:prstGeom prst="line">
            <a:avLst/>
          </a:prstGeom>
          <a:noFill/>
          <a:ln w="22225">
            <a:solidFill>
              <a:srgbClr val="1C7293"/>
            </a:solidFill>
            <a:prstDash val="solid"/>
            <a:tailEnd type="none"/>
          </a:ln>
        </p:spPr>
      </p:sp>
      <p:sp>
        <p:nvSpPr>
          <p:cNvPr id="10" name="Shape 8"/>
          <p:cNvSpPr/>
          <p:nvPr/>
        </p:nvSpPr>
        <p:spPr>
          <a:xfrm>
            <a:off x="3794760" y="2057400"/>
            <a:ext cx="0" cy="777240"/>
          </a:xfrm>
          <a:prstGeom prst="line">
            <a:avLst/>
          </a:prstGeom>
          <a:noFill/>
          <a:ln w="22225">
            <a:solidFill>
              <a:srgbClr val="5B6774"/>
            </a:solidFill>
            <a:prstDash val="solid"/>
            <a:tailEnd type="none"/>
          </a:ln>
        </p:spPr>
      </p:sp>
      <p:sp>
        <p:nvSpPr>
          <p:cNvPr id="11" name="Shape 9"/>
          <p:cNvSpPr/>
          <p:nvPr/>
        </p:nvSpPr>
        <p:spPr>
          <a:xfrm>
            <a:off x="3794760" y="2441448"/>
            <a:ext cx="640080" cy="0"/>
          </a:xfrm>
          <a:prstGeom prst="line">
            <a:avLst/>
          </a:prstGeom>
          <a:noFill/>
          <a:ln w="22225">
            <a:solidFill>
              <a:srgbClr val="5B6774"/>
            </a:solidFill>
            <a:prstDash val="solid"/>
            <a:tailEnd type="triangle"/>
          </a:ln>
        </p:spPr>
      </p:sp>
      <p:sp>
        <p:nvSpPr>
          <p:cNvPr id="12" name="Shape 10"/>
          <p:cNvSpPr/>
          <p:nvPr/>
        </p:nvSpPr>
        <p:spPr>
          <a:xfrm>
            <a:off x="4480560" y="2167128"/>
            <a:ext cx="2286000" cy="548640"/>
          </a:xfrm>
          <a:prstGeom prst="roundRect">
            <a:avLst>
              <a:gd name="adj" fmla="val 50000"/>
            </a:avLst>
          </a:prstGeom>
          <a:solidFill>
            <a:srgbClr val="D97C2B"/>
          </a:solidFill>
          <a:ln w="9525">
            <a:solidFill>
              <a:srgbClr val="D97C2B"/>
            </a:solidFill>
            <a:prstDash val="solid"/>
          </a:ln>
        </p:spPr>
      </p:sp>
      <p:sp>
        <p:nvSpPr>
          <p:cNvPr id="13" name="Text 11"/>
          <p:cNvSpPr/>
          <p:nvPr/>
        </p:nvSpPr>
        <p:spPr>
          <a:xfrm>
            <a:off x="4526280" y="2167128"/>
            <a:ext cx="2194560"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Gộp NMS (IoU 0.4 ×2)</a:t>
            </a:r>
            <a:endParaRPr lang="en-US" sz="1250" dirty="0"/>
          </a:p>
        </p:txBody>
      </p:sp>
      <p:sp>
        <p:nvSpPr>
          <p:cNvPr id="14" name="Text 12"/>
          <p:cNvSpPr/>
          <p:nvPr/>
        </p:nvSpPr>
        <p:spPr>
          <a:xfrm>
            <a:off x="640080" y="3291840"/>
            <a:ext cx="10911535" cy="685800"/>
          </a:xfrm>
          <a:prstGeom prst="rect">
            <a:avLst/>
          </a:prstGeom>
          <a:noFill/>
          <a:ln/>
        </p:spPr>
        <p:txBody>
          <a:bodyPr wrap="square" rtlCol="0" anchor="ctr"/>
          <a:lstStyle/>
          <a:p>
            <a:pPr indent="0" marL="0">
              <a:buNone/>
            </a:pPr>
            <a:r>
              <a:rPr lang="en-US" sz="1400" dirty="0">
                <a:solidFill>
                  <a:srgbClr val="16212E"/>
                </a:solidFill>
                <a:latin typeface="Calibri" pitchFamily="34" charset="0"/>
                <a:ea typeface="Calibri" pitchFamily="34" charset="-122"/>
                <a:cs typeface="Calibri" pitchFamily="34" charset="-120"/>
              </a:rPr>
              <a:t>Hai nguồn phát hiện chạy song song, sau đó gộp bằng Non-Max Suppression (NMS) — loại các khung bao trùng lặp cùng một vết gãy (chạy 2 lần để lọc trùng cả trong-cùng-nguồn lẫn giữa 2 nguồn).</a:t>
            </a:r>
            <a:endParaRPr lang="en-US" sz="1400" dirty="0"/>
          </a:p>
        </p:txBody>
      </p:sp>
      <p:sp>
        <p:nvSpPr>
          <p:cNvPr id="15" name="Text 13"/>
          <p:cNvSpPr/>
          <p:nvPr/>
        </p:nvSpPr>
        <p:spPr>
          <a:xfrm>
            <a:off x="640080" y="4041648"/>
            <a:ext cx="10911535" cy="365760"/>
          </a:xfrm>
          <a:prstGeom prst="rect">
            <a:avLst/>
          </a:prstGeom>
          <a:noFill/>
          <a:ln/>
        </p:spPr>
        <p:txBody>
          <a:bodyPr wrap="square" rtlCol="0" anchor="ctr"/>
          <a:lstStyle/>
          <a:p>
            <a:pPr indent="0" marL="0">
              <a:buNone/>
            </a:pPr>
            <a:r>
              <a:rPr lang="en-US" sz="1400" b="1" dirty="0">
                <a:solidFill>
                  <a:srgbClr val="12395C"/>
                </a:solidFill>
                <a:latin typeface="Calibri" pitchFamily="34" charset="0"/>
                <a:ea typeface="Calibri" pitchFamily="34" charset="-122"/>
                <a:cs typeface="Calibri" pitchFamily="34" charset="-120"/>
              </a:rPr>
              <a:t>Từ các vùng đã gộp, hệ thống trích 9 đặc trưng số hoá — “ngôn ngữ chung” để ANFIS ra quyết định:</a:t>
            </a:r>
            <a:endParaRPr lang="en-US" sz="1400" dirty="0"/>
          </a:p>
        </p:txBody>
      </p:sp>
      <p:sp>
        <p:nvSpPr>
          <p:cNvPr id="16" name="Shape 14"/>
          <p:cNvSpPr/>
          <p:nvPr/>
        </p:nvSpPr>
        <p:spPr>
          <a:xfrm>
            <a:off x="640080" y="4498848"/>
            <a:ext cx="3454298" cy="420624"/>
          </a:xfrm>
          <a:prstGeom prst="roundRect">
            <a:avLst>
              <a:gd name="adj" fmla="val 50000"/>
            </a:avLst>
          </a:prstGeom>
          <a:solidFill>
            <a:srgbClr val="E2EBF3"/>
          </a:solidFill>
          <a:ln w="9525">
            <a:solidFill>
              <a:srgbClr val="D6DEE6"/>
            </a:solidFill>
            <a:prstDash val="solid"/>
          </a:ln>
        </p:spPr>
      </p:sp>
      <p:sp>
        <p:nvSpPr>
          <p:cNvPr id="17" name="Text 15"/>
          <p:cNvSpPr/>
          <p:nvPr/>
        </p:nvSpPr>
        <p:spPr>
          <a:xfrm>
            <a:off x="685800" y="4498848"/>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bone_contrast</a:t>
            </a:r>
            <a:endParaRPr lang="en-US" sz="1300" dirty="0"/>
          </a:p>
        </p:txBody>
      </p:sp>
      <p:sp>
        <p:nvSpPr>
          <p:cNvPr id="18" name="Shape 16"/>
          <p:cNvSpPr/>
          <p:nvPr/>
        </p:nvSpPr>
        <p:spPr>
          <a:xfrm>
            <a:off x="4368698" y="4498848"/>
            <a:ext cx="3454298" cy="420624"/>
          </a:xfrm>
          <a:prstGeom prst="roundRect">
            <a:avLst>
              <a:gd name="adj" fmla="val 50000"/>
            </a:avLst>
          </a:prstGeom>
          <a:solidFill>
            <a:srgbClr val="E2EBF3"/>
          </a:solidFill>
          <a:ln w="9525">
            <a:solidFill>
              <a:srgbClr val="D6DEE6"/>
            </a:solidFill>
            <a:prstDash val="solid"/>
          </a:ln>
        </p:spPr>
      </p:sp>
      <p:sp>
        <p:nvSpPr>
          <p:cNvPr id="19" name="Text 17"/>
          <p:cNvSpPr/>
          <p:nvPr/>
        </p:nvSpPr>
        <p:spPr>
          <a:xfrm>
            <a:off x="4414418" y="4498848"/>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edge_irregularity</a:t>
            </a:r>
            <a:endParaRPr lang="en-US" sz="1300" dirty="0"/>
          </a:p>
        </p:txBody>
      </p:sp>
      <p:sp>
        <p:nvSpPr>
          <p:cNvPr id="20" name="Shape 18"/>
          <p:cNvSpPr/>
          <p:nvPr/>
        </p:nvSpPr>
        <p:spPr>
          <a:xfrm>
            <a:off x="8097317" y="4498848"/>
            <a:ext cx="3454298" cy="420624"/>
          </a:xfrm>
          <a:prstGeom prst="roundRect">
            <a:avLst>
              <a:gd name="adj" fmla="val 50000"/>
            </a:avLst>
          </a:prstGeom>
          <a:solidFill>
            <a:srgbClr val="E2EBF3"/>
          </a:solidFill>
          <a:ln w="9525">
            <a:solidFill>
              <a:srgbClr val="D6DEE6"/>
            </a:solidFill>
            <a:prstDash val="solid"/>
          </a:ln>
        </p:spPr>
      </p:sp>
      <p:sp>
        <p:nvSpPr>
          <p:cNvPr id="21" name="Text 19"/>
          <p:cNvSpPr/>
          <p:nvPr/>
        </p:nvSpPr>
        <p:spPr>
          <a:xfrm>
            <a:off x="8143037" y="4498848"/>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region_burden</a:t>
            </a:r>
            <a:endParaRPr lang="en-US" sz="1300" dirty="0"/>
          </a:p>
        </p:txBody>
      </p:sp>
      <p:sp>
        <p:nvSpPr>
          <p:cNvPr id="22" name="Shape 20"/>
          <p:cNvSpPr/>
          <p:nvPr/>
        </p:nvSpPr>
        <p:spPr>
          <a:xfrm>
            <a:off x="640080" y="5029200"/>
            <a:ext cx="3454298" cy="420624"/>
          </a:xfrm>
          <a:prstGeom prst="roundRect">
            <a:avLst>
              <a:gd name="adj" fmla="val 50000"/>
            </a:avLst>
          </a:prstGeom>
          <a:solidFill>
            <a:srgbClr val="E2EBF3"/>
          </a:solidFill>
          <a:ln w="9525">
            <a:solidFill>
              <a:srgbClr val="D6DEE6"/>
            </a:solidFill>
            <a:prstDash val="solid"/>
          </a:ln>
        </p:spPr>
      </p:sp>
      <p:sp>
        <p:nvSpPr>
          <p:cNvPr id="23" name="Text 21"/>
          <p:cNvSpPr/>
          <p:nvPr/>
        </p:nvSpPr>
        <p:spPr>
          <a:xfrm>
            <a:off x="685800" y="5029200"/>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morphology_strength</a:t>
            </a:r>
            <a:endParaRPr lang="en-US" sz="1300" dirty="0"/>
          </a:p>
        </p:txBody>
      </p:sp>
      <p:sp>
        <p:nvSpPr>
          <p:cNvPr id="24" name="Shape 22"/>
          <p:cNvSpPr/>
          <p:nvPr/>
        </p:nvSpPr>
        <p:spPr>
          <a:xfrm>
            <a:off x="4368698" y="5029200"/>
            <a:ext cx="3454298" cy="420624"/>
          </a:xfrm>
          <a:prstGeom prst="roundRect">
            <a:avLst>
              <a:gd name="adj" fmla="val 50000"/>
            </a:avLst>
          </a:prstGeom>
          <a:solidFill>
            <a:srgbClr val="E2EBF3"/>
          </a:solidFill>
          <a:ln w="9525">
            <a:solidFill>
              <a:srgbClr val="D6DEE6"/>
            </a:solidFill>
            <a:prstDash val="solid"/>
          </a:ln>
        </p:spPr>
      </p:sp>
      <p:sp>
        <p:nvSpPr>
          <p:cNvPr id="25" name="Text 23"/>
          <p:cNvSpPr/>
          <p:nvPr/>
        </p:nvSpPr>
        <p:spPr>
          <a:xfrm>
            <a:off x="4414418" y="5029200"/>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source_agreement</a:t>
            </a:r>
            <a:endParaRPr lang="en-US" sz="1300" dirty="0"/>
          </a:p>
        </p:txBody>
      </p:sp>
      <p:sp>
        <p:nvSpPr>
          <p:cNvPr id="26" name="Shape 24"/>
          <p:cNvSpPr/>
          <p:nvPr/>
        </p:nvSpPr>
        <p:spPr>
          <a:xfrm>
            <a:off x="8097317" y="5029200"/>
            <a:ext cx="3454298" cy="420624"/>
          </a:xfrm>
          <a:prstGeom prst="roundRect">
            <a:avLst>
              <a:gd name="adj" fmla="val 50000"/>
            </a:avLst>
          </a:prstGeom>
          <a:solidFill>
            <a:srgbClr val="E2EBF3"/>
          </a:solidFill>
          <a:ln w="9525">
            <a:solidFill>
              <a:srgbClr val="D6DEE6"/>
            </a:solidFill>
            <a:prstDash val="solid"/>
          </a:ln>
        </p:spPr>
      </p:sp>
      <p:sp>
        <p:nvSpPr>
          <p:cNvPr id="27" name="Text 25"/>
          <p:cNvSpPr/>
          <p:nvPr/>
        </p:nvSpPr>
        <p:spPr>
          <a:xfrm>
            <a:off x="8143037" y="5029200"/>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yolo_confidence</a:t>
            </a:r>
            <a:endParaRPr lang="en-US" sz="1300" dirty="0"/>
          </a:p>
        </p:txBody>
      </p:sp>
      <p:sp>
        <p:nvSpPr>
          <p:cNvPr id="28" name="Shape 26"/>
          <p:cNvSpPr/>
          <p:nvPr/>
        </p:nvSpPr>
        <p:spPr>
          <a:xfrm>
            <a:off x="640080" y="5559552"/>
            <a:ext cx="3454298" cy="420624"/>
          </a:xfrm>
          <a:prstGeom prst="roundRect">
            <a:avLst>
              <a:gd name="adj" fmla="val 50000"/>
            </a:avLst>
          </a:prstGeom>
          <a:solidFill>
            <a:srgbClr val="E2EBF3"/>
          </a:solidFill>
          <a:ln w="9525">
            <a:solidFill>
              <a:srgbClr val="D6DEE6"/>
            </a:solidFill>
            <a:prstDash val="solid"/>
          </a:ln>
        </p:spPr>
      </p:sp>
      <p:sp>
        <p:nvSpPr>
          <p:cNvPr id="29" name="Text 27"/>
          <p:cNvSpPr/>
          <p:nvPr/>
        </p:nvSpPr>
        <p:spPr>
          <a:xfrm>
            <a:off x="685800" y="5559552"/>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max_confidence</a:t>
            </a:r>
            <a:endParaRPr lang="en-US" sz="1300" dirty="0"/>
          </a:p>
        </p:txBody>
      </p:sp>
      <p:sp>
        <p:nvSpPr>
          <p:cNvPr id="30" name="Shape 28"/>
          <p:cNvSpPr/>
          <p:nvPr/>
        </p:nvSpPr>
        <p:spPr>
          <a:xfrm>
            <a:off x="4368698" y="5559552"/>
            <a:ext cx="3454298" cy="420624"/>
          </a:xfrm>
          <a:prstGeom prst="roundRect">
            <a:avLst>
              <a:gd name="adj" fmla="val 50000"/>
            </a:avLst>
          </a:prstGeom>
          <a:solidFill>
            <a:srgbClr val="E2EBF3"/>
          </a:solidFill>
          <a:ln w="9525">
            <a:solidFill>
              <a:srgbClr val="D6DEE6"/>
            </a:solidFill>
            <a:prstDash val="solid"/>
          </a:ln>
        </p:spPr>
      </p:sp>
      <p:sp>
        <p:nvSpPr>
          <p:cNvPr id="31" name="Text 29"/>
          <p:cNvSpPr/>
          <p:nvPr/>
        </p:nvSpPr>
        <p:spPr>
          <a:xfrm>
            <a:off x="4414418" y="5559552"/>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max_fractal_dim</a:t>
            </a:r>
            <a:endParaRPr lang="en-US" sz="1300" dirty="0"/>
          </a:p>
        </p:txBody>
      </p:sp>
      <p:sp>
        <p:nvSpPr>
          <p:cNvPr id="32" name="Shape 30"/>
          <p:cNvSpPr/>
          <p:nvPr/>
        </p:nvSpPr>
        <p:spPr>
          <a:xfrm>
            <a:off x="8097317" y="5559552"/>
            <a:ext cx="3454298" cy="420624"/>
          </a:xfrm>
          <a:prstGeom prst="roundRect">
            <a:avLst>
              <a:gd name="adj" fmla="val 50000"/>
            </a:avLst>
          </a:prstGeom>
          <a:solidFill>
            <a:srgbClr val="E2EBF3"/>
          </a:solidFill>
          <a:ln w="9525">
            <a:solidFill>
              <a:srgbClr val="D6DEE6"/>
            </a:solidFill>
            <a:prstDash val="solid"/>
          </a:ln>
        </p:spPr>
      </p:sp>
      <p:sp>
        <p:nvSpPr>
          <p:cNvPr id="33" name="Text 31"/>
          <p:cNvSpPr/>
          <p:nvPr/>
        </p:nvSpPr>
        <p:spPr>
          <a:xfrm>
            <a:off x="8143037" y="5559552"/>
            <a:ext cx="3362858" cy="420624"/>
          </a:xfrm>
          <a:prstGeom prst="rect">
            <a:avLst/>
          </a:prstGeom>
          <a:noFill/>
          <a:ln/>
        </p:spPr>
        <p:txBody>
          <a:bodyPr wrap="square" rtlCol="0" anchor="ctr"/>
          <a:lstStyle/>
          <a:p>
            <a:pPr algn="ctr" indent="0" marL="0">
              <a:buNone/>
            </a:pPr>
            <a:r>
              <a:rPr lang="en-US" sz="1300" b="1" dirty="0">
                <a:solidFill>
                  <a:srgbClr val="12395C"/>
                </a:solidFill>
                <a:latin typeface="Calibri" pitchFamily="34" charset="0"/>
                <a:ea typeface="Calibri" pitchFamily="34" charset="-122"/>
                <a:cs typeface="Calibri" pitchFamily="34" charset="-120"/>
              </a:rPr>
              <a:t>region_count</a:t>
            </a:r>
            <a:endParaRPr lang="en-US" sz="1300" dirty="0"/>
          </a:p>
        </p:txBody>
      </p:sp>
      <p:sp>
        <p:nvSpPr>
          <p:cNvPr id="34" name="Text 32"/>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35" name="Text 33"/>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KỸ THUẬT AI 3 / 3</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ANFIS — “Bộ não” ra quyết định cuối</a:t>
            </a:r>
            <a:endParaRPr lang="en-US" sz="3000" dirty="0"/>
          </a:p>
        </p:txBody>
      </p:sp>
      <p:sp>
        <p:nvSpPr>
          <p:cNvPr id="4" name="Shape 2"/>
          <p:cNvSpPr/>
          <p:nvPr/>
        </p:nvSpPr>
        <p:spPr>
          <a:xfrm>
            <a:off x="822960" y="2423160"/>
            <a:ext cx="1737360" cy="1737360"/>
          </a:xfrm>
          <a:prstGeom prst="ellipse">
            <a:avLst/>
          </a:prstGeom>
          <a:solidFill>
            <a:srgbClr val="D97C2B"/>
          </a:solidFill>
          <a:ln/>
        </p:spPr>
      </p:sp>
      <p:pic>
        <p:nvPicPr>
          <p:cNvPr id="5" name="Image 0" descr="/home/claude/output2/icons/anfis.png">    </p:cNvPr>
          <p:cNvPicPr>
            <a:picLocks noChangeAspect="1"/>
          </p:cNvPicPr>
          <p:nvPr/>
        </p:nvPicPr>
        <p:blipFill>
          <a:blip r:embed="rId1"/>
          <a:stretch>
            <a:fillRect/>
          </a:stretch>
        </p:blipFill>
        <p:spPr>
          <a:xfrm>
            <a:off x="1257300" y="2857500"/>
            <a:ext cx="868680" cy="868680"/>
          </a:xfrm>
          <a:prstGeom prst="rect">
            <a:avLst/>
          </a:prstGeom>
        </p:spPr>
      </p:pic>
      <p:sp>
        <p:nvSpPr>
          <p:cNvPr id="6" name="Text 3"/>
          <p:cNvSpPr/>
          <p:nvPr/>
        </p:nvSpPr>
        <p:spPr>
          <a:xfrm>
            <a:off x="3063240" y="1645920"/>
            <a:ext cx="8579815" cy="4206240"/>
          </a:xfrm>
          <a:prstGeom prst="rect">
            <a:avLst/>
          </a:prstGeom>
          <a:noFill/>
          <a:ln/>
        </p:spPr>
        <p:txBody>
          <a:bodyPr wrap="square" rtlCol="0" anchor="t"/>
          <a:lstStyle/>
          <a:p>
            <a:pPr marL="342900" indent="-342900">
              <a:spcAft>
                <a:spcPts val="1100"/>
              </a:spcAft>
              <a:buSzPct val="100000"/>
              <a:buChar char="✦"/>
            </a:pPr>
            <a:r>
              <a:rPr lang="en-US" sz="1450" dirty="0">
                <a:solidFill>
                  <a:srgbClr val="16212E"/>
                </a:solidFill>
                <a:latin typeface="Calibri" pitchFamily="34" charset="0"/>
                <a:ea typeface="Calibri" pitchFamily="34" charset="-122"/>
                <a:cs typeface="Calibri" pitchFamily="34" charset="-120"/>
              </a:rPr>
              <a:t>ANFIS = Adaptive Neuro-Fuzzy Inference System — mạng nơ-ron kết hợp logic mờ (fuzzy logic).</a:t>
            </a:r>
            <a:endParaRPr lang="en-US" sz="1450" dirty="0"/>
          </a:p>
          <a:p>
            <a:pPr marL="342900" indent="-342900">
              <a:spcAft>
                <a:spcPts val="1100"/>
              </a:spcAft>
              <a:buSzPct val="100000"/>
              <a:buChar char="✦"/>
            </a:pPr>
            <a:r>
              <a:rPr lang="en-US" sz="1450" dirty="0">
                <a:solidFill>
                  <a:srgbClr val="16212E"/>
                </a:solidFill>
                <a:latin typeface="Calibri" pitchFamily="34" charset="0"/>
                <a:ea typeface="Calibri" pitchFamily="34" charset="-122"/>
                <a:cs typeface="Calibri" pitchFamily="34" charset="-120"/>
              </a:rPr>
              <a:t>Nhận trực tiếp 5/9 đặc trưng: edge_irregularity, bone_contrast, yolo_confidence, region_burden, morphology_strength.</a:t>
            </a:r>
            <a:endParaRPr lang="en-US" sz="1450" dirty="0"/>
          </a:p>
          <a:p>
            <a:pPr marL="342900" indent="-342900">
              <a:spcAft>
                <a:spcPts val="1100"/>
              </a:spcAft>
              <a:buSzPct val="100000"/>
              <a:buChar char="✦"/>
            </a:pPr>
            <a:r>
              <a:rPr lang="en-US" sz="1450" dirty="0">
                <a:solidFill>
                  <a:srgbClr val="16212E"/>
                </a:solidFill>
                <a:latin typeface="Calibri" pitchFamily="34" charset="0"/>
                <a:ea typeface="Calibri" pitchFamily="34" charset="-122"/>
                <a:cs typeface="Calibri" pitchFamily="34" charset="-120"/>
              </a:rPr>
              <a:t>Mỗi input có 3 hàm thành viên Gauss (thấp / trung bình / cao) → tối đa 3⁵ = 243 luật mờ có thể học.</a:t>
            </a:r>
            <a:endParaRPr lang="en-US" sz="1450" dirty="0"/>
          </a:p>
          <a:p>
            <a:pPr marL="342900" indent="-342900">
              <a:spcAft>
                <a:spcPts val="1100"/>
              </a:spcAft>
              <a:buSzPct val="100000"/>
              <a:buChar char="✦"/>
            </a:pPr>
            <a:r>
              <a:rPr lang="en-US" sz="1450" dirty="0">
                <a:solidFill>
                  <a:srgbClr val="16212E"/>
                </a:solidFill>
                <a:latin typeface="Calibri" pitchFamily="34" charset="0"/>
                <a:ea typeface="Calibri" pitchFamily="34" charset="-122"/>
                <a:cs typeface="Calibri" pitchFamily="34" charset="-120"/>
              </a:rPr>
              <a:t>4 đặc trưng còn lại KHÔNG đưa thẳng vào mạng — dùng ở bước hậu xử lý để hiệu chỉnh điểm và tính độ tin cậy lâm sàng.</a:t>
            </a:r>
            <a:endParaRPr lang="en-US" sz="1450" dirty="0"/>
          </a:p>
          <a:p>
            <a:pPr marL="342900" indent="-342900">
              <a:spcAft>
                <a:spcPts val="1100"/>
              </a:spcAft>
              <a:buSzPct val="100000"/>
              <a:buChar char="✦"/>
            </a:pPr>
            <a:r>
              <a:rPr lang="en-US" sz="1450" dirty="0">
                <a:solidFill>
                  <a:srgbClr val="16212E"/>
                </a:solidFill>
                <a:latin typeface="Calibri" pitchFamily="34" charset="0"/>
                <a:ea typeface="Calibri" pitchFamily="34" charset="-122"/>
                <a:cs typeface="Calibri" pitchFamily="34" charset="-120"/>
              </a:rPr>
              <a:t>Đầu ra: điểm rủi ro gãy xương liên tục, thang 0–100.</a:t>
            </a:r>
            <a:endParaRPr lang="en-US" sz="1450" dirty="0"/>
          </a:p>
        </p:txBody>
      </p:sp>
      <p:sp>
        <p:nvSpPr>
          <p:cNvPr id="7" name="Shape 4"/>
          <p:cNvSpPr/>
          <p:nvPr/>
        </p:nvSpPr>
        <p:spPr>
          <a:xfrm>
            <a:off x="548640" y="4709160"/>
            <a:ext cx="2286000" cy="1051560"/>
          </a:xfrm>
          <a:prstGeom prst="roundRect">
            <a:avLst>
              <a:gd name="adj" fmla="val 7826"/>
            </a:avLst>
          </a:prstGeom>
          <a:solidFill>
            <a:srgbClr val="E2EBF3"/>
          </a:solidFill>
          <a:ln w="12700">
            <a:solidFill>
              <a:srgbClr val="D6DEE6"/>
            </a:solidFill>
            <a:prstDash val="solid"/>
          </a:ln>
        </p:spPr>
      </p:sp>
      <p:sp>
        <p:nvSpPr>
          <p:cNvPr id="8" name="Text 5"/>
          <p:cNvSpPr/>
          <p:nvPr/>
        </p:nvSpPr>
        <p:spPr>
          <a:xfrm>
            <a:off x="548640" y="4709160"/>
            <a:ext cx="2286000" cy="1051560"/>
          </a:xfrm>
          <a:prstGeom prst="rect">
            <a:avLst/>
          </a:prstGeom>
          <a:noFill/>
          <a:ln/>
        </p:spPr>
        <p:txBody>
          <a:bodyPr wrap="square" rtlCol="0" anchor="ctr"/>
          <a:lstStyle/>
          <a:p>
            <a:pPr algn="ctr" indent="0" marL="0">
              <a:buNone/>
            </a:pPr>
            <a:r>
              <a:rPr lang="en-US" sz="1500" b="1" dirty="0">
                <a:solidFill>
                  <a:srgbClr val="D97C2B"/>
                </a:solidFill>
                <a:latin typeface="Calibri" pitchFamily="34" charset="0"/>
                <a:ea typeface="Calibri" pitchFamily="34" charset="-122"/>
                <a:cs typeface="Calibri" pitchFamily="34" charset="-120"/>
              </a:rPr>
              <a:t>5 input × 3 MF</a:t>
            </a:r>
            <a:pPr algn="ctr" indent="0" marL="0">
              <a:buNone/>
            </a:pPr>
            <a:endParaRPr lang="en-US" sz="1500" dirty="0"/>
          </a:p>
          <a:p>
            <a:pPr algn="ctr" indent="0" marL="0">
              <a:buNone/>
            </a:pPr>
            <a:r>
              <a:rPr lang="en-US" sz="1050" dirty="0">
                <a:solidFill>
                  <a:srgbClr val="5B6774"/>
                </a:solidFill>
                <a:latin typeface="Calibri" pitchFamily="34" charset="0"/>
                <a:ea typeface="Calibri" pitchFamily="34" charset="-122"/>
                <a:cs typeface="Calibri" pitchFamily="34" charset="-120"/>
              </a:rPr>
              <a:t>= tối đa 243 luật mờ</a:t>
            </a:r>
            <a:endParaRPr lang="en-US" sz="1500" dirty="0"/>
          </a:p>
        </p:txBody>
      </p:sp>
      <p:sp>
        <p:nvSpPr>
          <p:cNvPr id="9" name="Text 6"/>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10" name="Text 7"/>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ANFIS — CHI TIẾT 1 / 2</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Cơ chế hoạt động — 5 lớp mạng nơ-ron mờ</a:t>
            </a:r>
            <a:endParaRPr lang="en-US" sz="3000" dirty="0"/>
          </a:p>
        </p:txBody>
      </p:sp>
      <p:sp>
        <p:nvSpPr>
          <p:cNvPr id="4" name="Text 2"/>
          <p:cNvSpPr/>
          <p:nvPr/>
        </p:nvSpPr>
        <p:spPr>
          <a:xfrm>
            <a:off x="548640" y="1627632"/>
            <a:ext cx="11094415" cy="502920"/>
          </a:xfrm>
          <a:prstGeom prst="rect">
            <a:avLst/>
          </a:prstGeom>
          <a:noFill/>
          <a:ln/>
        </p:spPr>
        <p:txBody>
          <a:bodyPr wrap="square" rtlCol="0" anchor="ctr"/>
          <a:lstStyle/>
          <a:p>
            <a:pPr indent="0" marL="0">
              <a:buNone/>
            </a:pPr>
            <a:r>
              <a:rPr lang="en-US" sz="1350" dirty="0">
                <a:solidFill>
                  <a:srgbClr val="16212E"/>
                </a:solidFill>
                <a:latin typeface="Calibri" pitchFamily="34" charset="0"/>
                <a:ea typeface="Calibri" pitchFamily="34" charset="-122"/>
                <a:cs typeface="Calibri" pitchFamily="34" charset="-120"/>
              </a:rPr>
              <a:t>Đây là mạng ANFIS kiểu Jang — Sugeno bậc 1, học kiểu </a:t>
            </a:r>
            <a:pPr indent="0" marL="0">
              <a:buNone/>
            </a:pPr>
            <a:r>
              <a:rPr lang="en-US" sz="1350" b="1" i="1" dirty="0">
                <a:solidFill>
                  <a:srgbClr val="D97C2B"/>
                </a:solidFill>
                <a:latin typeface="Calibri" pitchFamily="34" charset="0"/>
                <a:ea typeface="Calibri" pitchFamily="34" charset="-122"/>
                <a:cs typeface="Calibri" pitchFamily="34" charset="-120"/>
              </a:rPr>
              <a:t>hybrid</a:t>
            </a:r>
            <a:pPr indent="0" marL="0">
              <a:buNone/>
            </a:pPr>
            <a:r>
              <a:rPr lang="en-US" sz="1350" dirty="0">
                <a:solidFill>
                  <a:srgbClr val="16212E"/>
                </a:solidFill>
                <a:latin typeface="Calibri" pitchFamily="34" charset="0"/>
                <a:ea typeface="Calibri" pitchFamily="34" charset="-122"/>
                <a:cs typeface="Calibri" pitchFamily="34" charset="-120"/>
              </a:rPr>
              <a:t>: phần mờ hoá học bằng gradient descent (lan truyền ngược), phần hệ quả học bằng bình phương tối thiểu (Least-Squares).</a:t>
            </a:r>
            <a:endParaRPr lang="en-US" sz="1350" dirty="0"/>
          </a:p>
        </p:txBody>
      </p:sp>
      <p:sp>
        <p:nvSpPr>
          <p:cNvPr id="5" name="Shape 3"/>
          <p:cNvSpPr/>
          <p:nvPr/>
        </p:nvSpPr>
        <p:spPr>
          <a:xfrm>
            <a:off x="548640" y="2331720"/>
            <a:ext cx="1999427" cy="3063240"/>
          </a:xfrm>
          <a:prstGeom prst="roundRect">
            <a:avLst>
              <a:gd name="adj" fmla="val 4116"/>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6" name="Shape 4"/>
          <p:cNvSpPr/>
          <p:nvPr/>
        </p:nvSpPr>
        <p:spPr>
          <a:xfrm>
            <a:off x="1292322" y="2532888"/>
            <a:ext cx="512064" cy="512064"/>
          </a:xfrm>
          <a:prstGeom prst="ellipse">
            <a:avLst/>
          </a:prstGeom>
          <a:solidFill>
            <a:srgbClr val="D97C2B"/>
          </a:solidFill>
          <a:ln/>
        </p:spPr>
      </p:sp>
      <p:sp>
        <p:nvSpPr>
          <p:cNvPr id="7" name="Text 5"/>
          <p:cNvSpPr/>
          <p:nvPr/>
        </p:nvSpPr>
        <p:spPr>
          <a:xfrm>
            <a:off x="1292322" y="2532888"/>
            <a:ext cx="512064" cy="51206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8" name="Text 6"/>
          <p:cNvSpPr/>
          <p:nvPr/>
        </p:nvSpPr>
        <p:spPr>
          <a:xfrm>
            <a:off x="658368" y="3154680"/>
            <a:ext cx="1779971" cy="566928"/>
          </a:xfrm>
          <a:prstGeom prst="rect">
            <a:avLst/>
          </a:prstGeom>
          <a:noFill/>
          <a:ln/>
        </p:spPr>
        <p:txBody>
          <a:bodyPr wrap="square" rtlCol="0" anchor="t"/>
          <a:lstStyle/>
          <a:p>
            <a:pPr algn="ctr" indent="0" marL="0">
              <a:buNone/>
            </a:pPr>
            <a:r>
              <a:rPr lang="en-US" sz="1250" b="1" dirty="0">
                <a:solidFill>
                  <a:srgbClr val="12395C"/>
                </a:solidFill>
                <a:latin typeface="Calibri" pitchFamily="34" charset="0"/>
                <a:ea typeface="Calibri" pitchFamily="34" charset="-122"/>
                <a:cs typeface="Calibri" pitchFamily="34" charset="-120"/>
              </a:rPr>
              <a:t>Mờ hoá</a:t>
            </a:r>
            <a:endParaRPr lang="en-US" sz="1250" dirty="0"/>
          </a:p>
          <a:p>
            <a:pPr algn="ctr" indent="0" marL="0">
              <a:buNone/>
            </a:pPr>
            <a:r>
              <a:rPr lang="en-US" sz="1250" b="1" dirty="0">
                <a:solidFill>
                  <a:srgbClr val="12395C"/>
                </a:solidFill>
                <a:latin typeface="Calibri" pitchFamily="34" charset="0"/>
                <a:ea typeface="Calibri" pitchFamily="34" charset="-122"/>
                <a:cs typeface="Calibri" pitchFamily="34" charset="-120"/>
              </a:rPr>
              <a:t>(Fuzzify)</a:t>
            </a:r>
            <a:endParaRPr lang="en-US" sz="1250" dirty="0"/>
          </a:p>
        </p:txBody>
      </p:sp>
      <p:sp>
        <p:nvSpPr>
          <p:cNvPr id="9" name="Text 7"/>
          <p:cNvSpPr/>
          <p:nvPr/>
        </p:nvSpPr>
        <p:spPr>
          <a:xfrm>
            <a:off x="676656" y="3749040"/>
            <a:ext cx="1743395" cy="1554480"/>
          </a:xfrm>
          <a:prstGeom prst="rect">
            <a:avLst/>
          </a:prstGeom>
          <a:noFill/>
          <a:ln/>
        </p:spPr>
        <p:txBody>
          <a:bodyPr wrap="square" rtlCol="0" anchor="t"/>
          <a:lstStyle/>
          <a:p>
            <a:pPr algn="ctr" indent="0" marL="0">
              <a:buNone/>
            </a:pPr>
            <a:r>
              <a:rPr lang="en-US" sz="1020" dirty="0">
                <a:solidFill>
                  <a:srgbClr val="16212E"/>
                </a:solidFill>
                <a:latin typeface="Calibri" pitchFamily="34" charset="0"/>
                <a:ea typeface="Calibri" pitchFamily="34" charset="-122"/>
                <a:cs typeface="Calibri" pitchFamily="34" charset="-120"/>
              </a:rPr>
              <a:t>Mỗi trong 5 giá trị đầu vào (0–1) đi qua 3 hàm thành viên Gauss (thấp / trung bình / cao) → tính “mức độ thuộc về” từng mức.</a:t>
            </a:r>
            <a:endParaRPr lang="en-US" sz="1020" dirty="0"/>
          </a:p>
        </p:txBody>
      </p:sp>
      <p:sp>
        <p:nvSpPr>
          <p:cNvPr id="10" name="Shape 8"/>
          <p:cNvSpPr/>
          <p:nvPr/>
        </p:nvSpPr>
        <p:spPr>
          <a:xfrm>
            <a:off x="2584643" y="2788920"/>
            <a:ext cx="201168" cy="0"/>
          </a:xfrm>
          <a:prstGeom prst="line">
            <a:avLst/>
          </a:prstGeom>
          <a:noFill/>
          <a:ln w="19050">
            <a:solidFill>
              <a:srgbClr val="5B6774"/>
            </a:solidFill>
            <a:prstDash val="solid"/>
            <a:tailEnd type="triangle"/>
          </a:ln>
        </p:spPr>
      </p:sp>
      <p:sp>
        <p:nvSpPr>
          <p:cNvPr id="11" name="Shape 9"/>
          <p:cNvSpPr/>
          <p:nvPr/>
        </p:nvSpPr>
        <p:spPr>
          <a:xfrm>
            <a:off x="2822387" y="2331720"/>
            <a:ext cx="1999427" cy="3063240"/>
          </a:xfrm>
          <a:prstGeom prst="roundRect">
            <a:avLst>
              <a:gd name="adj" fmla="val 4116"/>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2" name="Shape 10"/>
          <p:cNvSpPr/>
          <p:nvPr/>
        </p:nvSpPr>
        <p:spPr>
          <a:xfrm>
            <a:off x="3566069" y="2532888"/>
            <a:ext cx="512064" cy="512064"/>
          </a:xfrm>
          <a:prstGeom prst="ellipse">
            <a:avLst/>
          </a:prstGeom>
          <a:solidFill>
            <a:srgbClr val="D97C2B"/>
          </a:solidFill>
          <a:ln/>
        </p:spPr>
      </p:sp>
      <p:sp>
        <p:nvSpPr>
          <p:cNvPr id="13" name="Text 11"/>
          <p:cNvSpPr/>
          <p:nvPr/>
        </p:nvSpPr>
        <p:spPr>
          <a:xfrm>
            <a:off x="3566069" y="2532888"/>
            <a:ext cx="512064" cy="51206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p:nvPr/>
        </p:nvSpPr>
        <p:spPr>
          <a:xfrm>
            <a:off x="2932115" y="3154680"/>
            <a:ext cx="1779971" cy="566928"/>
          </a:xfrm>
          <a:prstGeom prst="rect">
            <a:avLst/>
          </a:prstGeom>
          <a:noFill/>
          <a:ln/>
        </p:spPr>
        <p:txBody>
          <a:bodyPr wrap="square" rtlCol="0" anchor="t"/>
          <a:lstStyle/>
          <a:p>
            <a:pPr algn="ctr" indent="0" marL="0">
              <a:buNone/>
            </a:pPr>
            <a:r>
              <a:rPr lang="en-US" sz="1250" b="1" dirty="0">
                <a:solidFill>
                  <a:srgbClr val="12395C"/>
                </a:solidFill>
                <a:latin typeface="Calibri" pitchFamily="34" charset="0"/>
                <a:ea typeface="Calibri" pitchFamily="34" charset="-122"/>
                <a:cs typeface="Calibri" pitchFamily="34" charset="-120"/>
              </a:rPr>
              <a:t>Luật mờ</a:t>
            </a:r>
            <a:endParaRPr lang="en-US" sz="1250" dirty="0"/>
          </a:p>
          <a:p>
            <a:pPr algn="ctr" indent="0" marL="0">
              <a:buNone/>
            </a:pPr>
            <a:r>
              <a:rPr lang="en-US" sz="1250" b="1" dirty="0">
                <a:solidFill>
                  <a:srgbClr val="12395C"/>
                </a:solidFill>
                <a:latin typeface="Calibri" pitchFamily="34" charset="0"/>
                <a:ea typeface="Calibri" pitchFamily="34" charset="-122"/>
                <a:cs typeface="Calibri" pitchFamily="34" charset="-120"/>
              </a:rPr>
              <a:t>(AND = tích số)</a:t>
            </a:r>
            <a:endParaRPr lang="en-US" sz="1250" dirty="0"/>
          </a:p>
        </p:txBody>
      </p:sp>
      <p:sp>
        <p:nvSpPr>
          <p:cNvPr id="15" name="Text 13"/>
          <p:cNvSpPr/>
          <p:nvPr/>
        </p:nvSpPr>
        <p:spPr>
          <a:xfrm>
            <a:off x="2950403" y="3749040"/>
            <a:ext cx="1743395" cy="1554480"/>
          </a:xfrm>
          <a:prstGeom prst="rect">
            <a:avLst/>
          </a:prstGeom>
          <a:noFill/>
          <a:ln/>
        </p:spPr>
        <p:txBody>
          <a:bodyPr wrap="square" rtlCol="0" anchor="t"/>
          <a:lstStyle/>
          <a:p>
            <a:pPr algn="ctr" indent="0" marL="0">
              <a:buNone/>
            </a:pPr>
            <a:r>
              <a:rPr lang="en-US" sz="1020" dirty="0">
                <a:solidFill>
                  <a:srgbClr val="16212E"/>
                </a:solidFill>
                <a:latin typeface="Calibri" pitchFamily="34" charset="0"/>
                <a:ea typeface="Calibri" pitchFamily="34" charset="-122"/>
                <a:cs typeface="Calibri" pitchFamily="34" charset="-120"/>
              </a:rPr>
              <a:t>Nhân mức độ thuộc về của cả 5 đặc trưng theo từng tổ hợp luật → tối đa 3⁵ = 243 luật, mỗi luật có một “độ mạnh kích hoạt”.</a:t>
            </a:r>
            <a:endParaRPr lang="en-US" sz="1020" dirty="0"/>
          </a:p>
        </p:txBody>
      </p:sp>
      <p:sp>
        <p:nvSpPr>
          <p:cNvPr id="16" name="Shape 14"/>
          <p:cNvSpPr/>
          <p:nvPr/>
        </p:nvSpPr>
        <p:spPr>
          <a:xfrm>
            <a:off x="4858390" y="2788920"/>
            <a:ext cx="201168" cy="0"/>
          </a:xfrm>
          <a:prstGeom prst="line">
            <a:avLst/>
          </a:prstGeom>
          <a:noFill/>
          <a:ln w="19050">
            <a:solidFill>
              <a:srgbClr val="5B6774"/>
            </a:solidFill>
            <a:prstDash val="solid"/>
            <a:tailEnd type="triangle"/>
          </a:ln>
        </p:spPr>
      </p:sp>
      <p:sp>
        <p:nvSpPr>
          <p:cNvPr id="17" name="Shape 15"/>
          <p:cNvSpPr/>
          <p:nvPr/>
        </p:nvSpPr>
        <p:spPr>
          <a:xfrm>
            <a:off x="5096134" y="2331720"/>
            <a:ext cx="1999427" cy="3063240"/>
          </a:xfrm>
          <a:prstGeom prst="roundRect">
            <a:avLst>
              <a:gd name="adj" fmla="val 4116"/>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8" name="Shape 16"/>
          <p:cNvSpPr/>
          <p:nvPr/>
        </p:nvSpPr>
        <p:spPr>
          <a:xfrm>
            <a:off x="5839816" y="2532888"/>
            <a:ext cx="512064" cy="512064"/>
          </a:xfrm>
          <a:prstGeom prst="ellipse">
            <a:avLst/>
          </a:prstGeom>
          <a:solidFill>
            <a:srgbClr val="D97C2B"/>
          </a:solidFill>
          <a:ln/>
        </p:spPr>
      </p:sp>
      <p:sp>
        <p:nvSpPr>
          <p:cNvPr id="19" name="Text 17"/>
          <p:cNvSpPr/>
          <p:nvPr/>
        </p:nvSpPr>
        <p:spPr>
          <a:xfrm>
            <a:off x="5839816" y="2532888"/>
            <a:ext cx="512064" cy="51206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p:nvPr/>
        </p:nvSpPr>
        <p:spPr>
          <a:xfrm>
            <a:off x="5205862" y="3154680"/>
            <a:ext cx="1779971" cy="566928"/>
          </a:xfrm>
          <a:prstGeom prst="rect">
            <a:avLst/>
          </a:prstGeom>
          <a:noFill/>
          <a:ln/>
        </p:spPr>
        <p:txBody>
          <a:bodyPr wrap="square" rtlCol="0" anchor="t"/>
          <a:lstStyle/>
          <a:p>
            <a:pPr algn="ctr" indent="0" marL="0">
              <a:buNone/>
            </a:pPr>
            <a:r>
              <a:rPr lang="en-US" sz="1250" b="1" dirty="0">
                <a:solidFill>
                  <a:srgbClr val="12395C"/>
                </a:solidFill>
                <a:latin typeface="Calibri" pitchFamily="34" charset="0"/>
                <a:ea typeface="Calibri" pitchFamily="34" charset="-122"/>
                <a:cs typeface="Calibri" pitchFamily="34" charset="-120"/>
              </a:rPr>
              <a:t>Chuẩn hoá</a:t>
            </a:r>
            <a:endParaRPr lang="en-US" sz="1250" dirty="0"/>
          </a:p>
        </p:txBody>
      </p:sp>
      <p:sp>
        <p:nvSpPr>
          <p:cNvPr id="21" name="Text 19"/>
          <p:cNvSpPr/>
          <p:nvPr/>
        </p:nvSpPr>
        <p:spPr>
          <a:xfrm>
            <a:off x="5224150" y="3749040"/>
            <a:ext cx="1743395" cy="1554480"/>
          </a:xfrm>
          <a:prstGeom prst="rect">
            <a:avLst/>
          </a:prstGeom>
          <a:noFill/>
          <a:ln/>
        </p:spPr>
        <p:txBody>
          <a:bodyPr wrap="square" rtlCol="0" anchor="t"/>
          <a:lstStyle/>
          <a:p>
            <a:pPr algn="ctr" indent="0" marL="0">
              <a:buNone/>
            </a:pPr>
            <a:r>
              <a:rPr lang="en-US" sz="1020" dirty="0">
                <a:solidFill>
                  <a:srgbClr val="16212E"/>
                </a:solidFill>
                <a:latin typeface="Calibri" pitchFamily="34" charset="0"/>
                <a:ea typeface="Calibri" pitchFamily="34" charset="-122"/>
                <a:cs typeface="Calibri" pitchFamily="34" charset="-120"/>
              </a:rPr>
              <a:t>Chia độ mạnh của mỗi luật cho tổng độ mạnh tất cả luật → ra tỉ trọng đóng góp (0–1) của từng luật vào kết quả cuối.</a:t>
            </a:r>
            <a:endParaRPr lang="en-US" sz="1020" dirty="0"/>
          </a:p>
        </p:txBody>
      </p:sp>
      <p:sp>
        <p:nvSpPr>
          <p:cNvPr id="22" name="Shape 20"/>
          <p:cNvSpPr/>
          <p:nvPr/>
        </p:nvSpPr>
        <p:spPr>
          <a:xfrm>
            <a:off x="7132137" y="2788920"/>
            <a:ext cx="201168" cy="0"/>
          </a:xfrm>
          <a:prstGeom prst="line">
            <a:avLst/>
          </a:prstGeom>
          <a:noFill/>
          <a:ln w="19050">
            <a:solidFill>
              <a:srgbClr val="5B6774"/>
            </a:solidFill>
            <a:prstDash val="solid"/>
            <a:tailEnd type="triangle"/>
          </a:ln>
        </p:spPr>
      </p:sp>
      <p:sp>
        <p:nvSpPr>
          <p:cNvPr id="23" name="Shape 21"/>
          <p:cNvSpPr/>
          <p:nvPr/>
        </p:nvSpPr>
        <p:spPr>
          <a:xfrm>
            <a:off x="7369881" y="2331720"/>
            <a:ext cx="1999427" cy="3063240"/>
          </a:xfrm>
          <a:prstGeom prst="roundRect">
            <a:avLst>
              <a:gd name="adj" fmla="val 4116"/>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24" name="Shape 22"/>
          <p:cNvSpPr/>
          <p:nvPr/>
        </p:nvSpPr>
        <p:spPr>
          <a:xfrm>
            <a:off x="8113563" y="2532888"/>
            <a:ext cx="512064" cy="512064"/>
          </a:xfrm>
          <a:prstGeom prst="ellipse">
            <a:avLst/>
          </a:prstGeom>
          <a:solidFill>
            <a:srgbClr val="D97C2B"/>
          </a:solidFill>
          <a:ln/>
        </p:spPr>
      </p:sp>
      <p:sp>
        <p:nvSpPr>
          <p:cNvPr id="25" name="Text 23"/>
          <p:cNvSpPr/>
          <p:nvPr/>
        </p:nvSpPr>
        <p:spPr>
          <a:xfrm>
            <a:off x="8113563" y="2532888"/>
            <a:ext cx="512064" cy="51206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6" name="Text 24"/>
          <p:cNvSpPr/>
          <p:nvPr/>
        </p:nvSpPr>
        <p:spPr>
          <a:xfrm>
            <a:off x="7479609" y="3154680"/>
            <a:ext cx="1779971" cy="566928"/>
          </a:xfrm>
          <a:prstGeom prst="rect">
            <a:avLst/>
          </a:prstGeom>
          <a:noFill/>
          <a:ln/>
        </p:spPr>
        <p:txBody>
          <a:bodyPr wrap="square" rtlCol="0" anchor="t"/>
          <a:lstStyle/>
          <a:p>
            <a:pPr algn="ctr" indent="0" marL="0">
              <a:buNone/>
            </a:pPr>
            <a:r>
              <a:rPr lang="en-US" sz="1250" b="1" dirty="0">
                <a:solidFill>
                  <a:srgbClr val="12395C"/>
                </a:solidFill>
                <a:latin typeface="Calibri" pitchFamily="34" charset="0"/>
                <a:ea typeface="Calibri" pitchFamily="34" charset="-122"/>
                <a:cs typeface="Calibri" pitchFamily="34" charset="-120"/>
              </a:rPr>
              <a:t>Hệ quả TSK</a:t>
            </a:r>
            <a:endParaRPr lang="en-US" sz="1250" dirty="0"/>
          </a:p>
          <a:p>
            <a:pPr algn="ctr" indent="0" marL="0">
              <a:buNone/>
            </a:pPr>
            <a:r>
              <a:rPr lang="en-US" sz="1250" b="1" dirty="0">
                <a:solidFill>
                  <a:srgbClr val="12395C"/>
                </a:solidFill>
                <a:latin typeface="Calibri" pitchFamily="34" charset="0"/>
                <a:ea typeface="Calibri" pitchFamily="34" charset="-122"/>
                <a:cs typeface="Calibri" pitchFamily="34" charset="-120"/>
              </a:rPr>
              <a:t>(tuyến tính)</a:t>
            </a:r>
            <a:endParaRPr lang="en-US" sz="1250" dirty="0"/>
          </a:p>
        </p:txBody>
      </p:sp>
      <p:sp>
        <p:nvSpPr>
          <p:cNvPr id="27" name="Text 25"/>
          <p:cNvSpPr/>
          <p:nvPr/>
        </p:nvSpPr>
        <p:spPr>
          <a:xfrm>
            <a:off x="7497897" y="3749040"/>
            <a:ext cx="1743395" cy="1554480"/>
          </a:xfrm>
          <a:prstGeom prst="rect">
            <a:avLst/>
          </a:prstGeom>
          <a:noFill/>
          <a:ln/>
        </p:spPr>
        <p:txBody>
          <a:bodyPr wrap="square" rtlCol="0" anchor="t"/>
          <a:lstStyle/>
          <a:p>
            <a:pPr algn="ctr" indent="0" marL="0">
              <a:buNone/>
            </a:pPr>
            <a:r>
              <a:rPr lang="en-US" sz="1020" dirty="0">
                <a:solidFill>
                  <a:srgbClr val="16212E"/>
                </a:solidFill>
                <a:latin typeface="Calibri" pitchFamily="34" charset="0"/>
                <a:ea typeface="Calibri" pitchFamily="34" charset="-122"/>
                <a:cs typeface="Calibri" pitchFamily="34" charset="-120"/>
              </a:rPr>
              <a:t>Mỗi luật có một hàm tuyến tính riêng theo 5 đầu vào (Takagi-Sugeno). Hệ số được học bằng bình phương tối thiểu, không phải lan truyền ngược thuần tuý.</a:t>
            </a:r>
            <a:endParaRPr lang="en-US" sz="1020" dirty="0"/>
          </a:p>
        </p:txBody>
      </p:sp>
      <p:sp>
        <p:nvSpPr>
          <p:cNvPr id="28" name="Shape 26"/>
          <p:cNvSpPr/>
          <p:nvPr/>
        </p:nvSpPr>
        <p:spPr>
          <a:xfrm>
            <a:off x="9405884" y="2788920"/>
            <a:ext cx="201168" cy="0"/>
          </a:xfrm>
          <a:prstGeom prst="line">
            <a:avLst/>
          </a:prstGeom>
          <a:noFill/>
          <a:ln w="19050">
            <a:solidFill>
              <a:srgbClr val="5B6774"/>
            </a:solidFill>
            <a:prstDash val="solid"/>
            <a:tailEnd type="triangle"/>
          </a:ln>
        </p:spPr>
      </p:sp>
      <p:sp>
        <p:nvSpPr>
          <p:cNvPr id="29" name="Shape 27"/>
          <p:cNvSpPr/>
          <p:nvPr/>
        </p:nvSpPr>
        <p:spPr>
          <a:xfrm>
            <a:off x="9643628" y="2331720"/>
            <a:ext cx="1999427" cy="3063240"/>
          </a:xfrm>
          <a:prstGeom prst="roundRect">
            <a:avLst>
              <a:gd name="adj" fmla="val 4116"/>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30" name="Shape 28"/>
          <p:cNvSpPr/>
          <p:nvPr/>
        </p:nvSpPr>
        <p:spPr>
          <a:xfrm>
            <a:off x="10387310" y="2532888"/>
            <a:ext cx="512064" cy="512064"/>
          </a:xfrm>
          <a:prstGeom prst="ellipse">
            <a:avLst/>
          </a:prstGeom>
          <a:solidFill>
            <a:srgbClr val="D97C2B"/>
          </a:solidFill>
          <a:ln/>
        </p:spPr>
      </p:sp>
      <p:sp>
        <p:nvSpPr>
          <p:cNvPr id="31" name="Text 29"/>
          <p:cNvSpPr/>
          <p:nvPr/>
        </p:nvSpPr>
        <p:spPr>
          <a:xfrm>
            <a:off x="10387310" y="2532888"/>
            <a:ext cx="512064" cy="51206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2" name="Text 30"/>
          <p:cNvSpPr/>
          <p:nvPr/>
        </p:nvSpPr>
        <p:spPr>
          <a:xfrm>
            <a:off x="9753356" y="3154680"/>
            <a:ext cx="1779971" cy="566928"/>
          </a:xfrm>
          <a:prstGeom prst="rect">
            <a:avLst/>
          </a:prstGeom>
          <a:noFill/>
          <a:ln/>
        </p:spPr>
        <p:txBody>
          <a:bodyPr wrap="square" rtlCol="0" anchor="t"/>
          <a:lstStyle/>
          <a:p>
            <a:pPr algn="ctr" indent="0" marL="0">
              <a:buNone/>
            </a:pPr>
            <a:r>
              <a:rPr lang="en-US" sz="1250" b="1" dirty="0">
                <a:solidFill>
                  <a:srgbClr val="12395C"/>
                </a:solidFill>
                <a:latin typeface="Calibri" pitchFamily="34" charset="0"/>
                <a:ea typeface="Calibri" pitchFamily="34" charset="-122"/>
                <a:cs typeface="Calibri" pitchFamily="34" charset="-120"/>
              </a:rPr>
              <a:t>Tổng hợp</a:t>
            </a:r>
            <a:endParaRPr lang="en-US" sz="1250" dirty="0"/>
          </a:p>
          <a:p>
            <a:pPr algn="ctr" indent="0" marL="0">
              <a:buNone/>
            </a:pPr>
            <a:r>
              <a:rPr lang="en-US" sz="1250" b="1" dirty="0">
                <a:solidFill>
                  <a:srgbClr val="12395C"/>
                </a:solidFill>
                <a:latin typeface="Calibri" pitchFamily="34" charset="0"/>
                <a:ea typeface="Calibri" pitchFamily="34" charset="-122"/>
                <a:cs typeface="Calibri" pitchFamily="34" charset="-120"/>
              </a:rPr>
              <a:t>có trọng số</a:t>
            </a:r>
            <a:endParaRPr lang="en-US" sz="1250" dirty="0"/>
          </a:p>
        </p:txBody>
      </p:sp>
      <p:sp>
        <p:nvSpPr>
          <p:cNvPr id="33" name="Text 31"/>
          <p:cNvSpPr/>
          <p:nvPr/>
        </p:nvSpPr>
        <p:spPr>
          <a:xfrm>
            <a:off x="9771644" y="3749040"/>
            <a:ext cx="1743395" cy="1554480"/>
          </a:xfrm>
          <a:prstGeom prst="rect">
            <a:avLst/>
          </a:prstGeom>
          <a:noFill/>
          <a:ln/>
        </p:spPr>
        <p:txBody>
          <a:bodyPr wrap="square" rtlCol="0" anchor="t"/>
          <a:lstStyle/>
          <a:p>
            <a:pPr algn="ctr" indent="0" marL="0">
              <a:buNone/>
            </a:pPr>
            <a:r>
              <a:rPr lang="en-US" sz="1020" dirty="0">
                <a:solidFill>
                  <a:srgbClr val="16212E"/>
                </a:solidFill>
                <a:latin typeface="Calibri" pitchFamily="34" charset="0"/>
                <a:ea typeface="Calibri" pitchFamily="34" charset="-122"/>
                <a:cs typeface="Calibri" pitchFamily="34" charset="-120"/>
              </a:rPr>
              <a:t>Cộng có trọng số đầu ra của tất cả các luật (theo tỉ trọng ở Lớp 3) → ra điểm rủi ro gãy xương cuối cùng.</a:t>
            </a:r>
            <a:endParaRPr lang="en-US" sz="1020" dirty="0"/>
          </a:p>
        </p:txBody>
      </p:sp>
      <p:sp>
        <p:nvSpPr>
          <p:cNvPr id="34" name="Shape 32"/>
          <p:cNvSpPr/>
          <p:nvPr/>
        </p:nvSpPr>
        <p:spPr>
          <a:xfrm>
            <a:off x="548640" y="5623560"/>
            <a:ext cx="11094415" cy="658368"/>
          </a:xfrm>
          <a:prstGeom prst="roundRect">
            <a:avLst>
              <a:gd name="adj" fmla="val 12500"/>
            </a:avLst>
          </a:prstGeom>
          <a:solidFill>
            <a:srgbClr val="E9F2F6"/>
          </a:solidFill>
          <a:ln w="12700">
            <a:solidFill>
              <a:srgbClr val="1C7293"/>
            </a:solidFill>
            <a:prstDash val="solid"/>
          </a:ln>
        </p:spPr>
      </p:sp>
      <p:sp>
        <p:nvSpPr>
          <p:cNvPr id="35" name="Text 33"/>
          <p:cNvSpPr/>
          <p:nvPr/>
        </p:nvSpPr>
        <p:spPr>
          <a:xfrm>
            <a:off x="777240" y="5623560"/>
            <a:ext cx="10637215" cy="658368"/>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Nói ngắn gọn: </a:t>
            </a:r>
            <a:pPr indent="0" marL="0">
              <a:buNone/>
            </a:pPr>
            <a:r>
              <a:rPr lang="en-US" sz="1200" dirty="0">
                <a:solidFill>
                  <a:srgbClr val="16212E"/>
                </a:solidFill>
                <a:latin typeface="Calibri" pitchFamily="34" charset="0"/>
                <a:ea typeface="Calibri" pitchFamily="34" charset="-122"/>
                <a:cs typeface="Calibri" pitchFamily="34" charset="-120"/>
              </a:rPr>
              <a:t>5 con số đầu vào → qua 5 lớp phép nhân/cộng/chia có trọng số → ra 1 điểm rủi ro duy nhất. Không có bước nào là “hộp đen” khó giải thích.</a:t>
            </a:r>
            <a:endParaRPr lang="en-US" sz="1200" dirty="0"/>
          </a:p>
        </p:txBody>
      </p:sp>
      <p:sp>
        <p:nvSpPr>
          <p:cNvPr id="36" name="Text 34"/>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37" name="Text 35"/>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ANFIS — CHI TIẾT 2 / 2</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Ý nghĩa 5 đặc trưng đầu vào</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4434840"/>
        </p:xfrm>
        <a:graphic>
          <a:graphicData uri="http://schemas.openxmlformats.org/drawingml/2006/table">
            <a:tbl>
              <a:tblPr/>
              <a:tblGrid>
                <a:gridCol w="2377440"/>
                <a:gridCol w="3749040"/>
                <a:gridCol w="4965192"/>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Đặc trưng (input)</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1239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Được tính từ đâu</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1239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Ý nghĩa — vì sao ANFIS cần nó</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12395C"/>
                    </a:solidFill>
                  </a:tcPr>
                </a:tc>
              </a:tr>
              <a:tr h="795528">
                <a:tc>
                  <a:txBody>
                    <a:bodyPr/>
                    <a:lstStyle/>
                    <a:p>
                      <a:pPr algn="l" indent="0" marL="0">
                        <a:buNone/>
                      </a:pPr>
                      <a:r>
                        <a:rPr lang="en-US" sz="1250" b="1" dirty="0">
                          <a:solidFill>
                            <a:srgbClr val="12395C"/>
                          </a:solidFill>
                          <a:latin typeface="Calibri" pitchFamily="34" charset="0"/>
                          <a:ea typeface="Calibri" pitchFamily="34" charset="-122"/>
                          <a:cs typeface="Calibri" pitchFamily="34" charset="-120"/>
                        </a:rPr>
                        <a:t>edge_irregularity</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Fractal dimension (chuẩn hoá) của viền vùng nghi ngờ, lấy giá trị lớn nhất trong các vùng.</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Viền càng gồ ghề, bất thường → càng giống đường nứt/gãy thật, khác viền xương trơn tự nhiên.</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r>
              <a:tr h="795528">
                <a:tc>
                  <a:txBody>
                    <a:bodyPr/>
                    <a:lstStyle/>
                    <a:p>
                      <a:pPr algn="l" indent="0" marL="0">
                        <a:buNone/>
                      </a:pPr>
                      <a:r>
                        <a:rPr lang="en-US" sz="1250" b="1" dirty="0">
                          <a:solidFill>
                            <a:srgbClr val="12395C"/>
                          </a:solidFill>
                          <a:latin typeface="Calibri" pitchFamily="34" charset="0"/>
                          <a:ea typeface="Calibri" pitchFamily="34" charset="-122"/>
                          <a:cs typeface="Calibri" pitchFamily="34" charset="-120"/>
                        </a:rPr>
                        <a:t>bone_contrast</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Độ lệch chuẩn cường độ pixel của ảnh đã tăng cường tương phản (CLAHE).</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Ảnh tương phản tốt → cấu trúc xương hiện rõ, đánh giá đáng tin cậy; ảnh mờ/phẳng → ANFIS tự hạ độ tin cậy.</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r>
              <a:tr h="795528">
                <a:tc>
                  <a:txBody>
                    <a:bodyPr/>
                    <a:lstStyle/>
                    <a:p>
                      <a:pPr algn="l" indent="0" marL="0">
                        <a:buNone/>
                      </a:pPr>
                      <a:r>
                        <a:rPr lang="en-US" sz="1250" b="1" dirty="0">
                          <a:solidFill>
                            <a:srgbClr val="12395C"/>
                          </a:solidFill>
                          <a:latin typeface="Calibri" pitchFamily="34" charset="0"/>
                          <a:ea typeface="Calibri" pitchFamily="34" charset="-122"/>
                          <a:cs typeface="Calibri" pitchFamily="34" charset="-120"/>
                        </a:rPr>
                        <a:t>yolo_confidence</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Độ tin cậy cao nhất trong các vùng do YOLOv11 phát hiện.</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Thể hiện mức “chắc chắn” của mô hình học sâu — vùng YOLO tự tin cao thì ảnh hưởng nhiều hơn tới điểm rủi ro.</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r>
              <a:tr h="795528">
                <a:tc>
                  <a:txBody>
                    <a:bodyPr/>
                    <a:lstStyle/>
                    <a:p>
                      <a:pPr algn="l" indent="0" marL="0">
                        <a:buNone/>
                      </a:pPr>
                      <a:r>
                        <a:rPr lang="en-US" sz="1250" b="1" dirty="0">
                          <a:solidFill>
                            <a:srgbClr val="12395C"/>
                          </a:solidFill>
                          <a:latin typeface="Calibri" pitchFamily="34" charset="0"/>
                          <a:ea typeface="Calibri" pitchFamily="34" charset="-122"/>
                          <a:cs typeface="Calibri" pitchFamily="34" charset="-120"/>
                        </a:rPr>
                        <a:t>region_burden</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Kết hợp diện tích vùng nghi ngờ / diện tích ảnh (55%) + số lượng vùng phát hiện, tối đa 4 vùng (45%).</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Đo “gánh nặng tổn thương”: lan rộng hoặc nhiều điểm nghi ngờ cùng lúc → rủi ro tổng thể cao hơn 1 điểm nhỏ đơn lẻ.</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r>
              <a:tr h="795528">
                <a:tc>
                  <a:txBody>
                    <a:bodyPr/>
                    <a:lstStyle/>
                    <a:p>
                      <a:pPr algn="l" indent="0" marL="0">
                        <a:buNone/>
                      </a:pPr>
                      <a:r>
                        <a:rPr lang="en-US" sz="1250" b="1" dirty="0">
                          <a:solidFill>
                            <a:srgbClr val="12395C"/>
                          </a:solidFill>
                          <a:latin typeface="Calibri" pitchFamily="34" charset="0"/>
                          <a:ea typeface="Calibri" pitchFamily="34" charset="-122"/>
                          <a:cs typeface="Calibri" pitchFamily="34" charset="-120"/>
                        </a:rPr>
                        <a:t>morphology_strength</a:t>
                      </a:r>
                      <a:endParaRPr lang="en-US" sz="12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Tổ hợp: hình dạng thuôn dài (40% fractal + 25% aspect ratio + 20% conf. + 15% diện tích), lấy giá trị lớn nhất.</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Đường gãy thật thường dài, mảnh, viền phức tạp — khác các đốm nhiễu tròn/nhỏ do ảnh nhiễu hoặc thiết bị.</a:t>
                      </a:r>
                      <a:endParaRPr lang="en-US" sz="1150" dirty="0">
                        <a:latin typeface="Calibri" charset="0"/>
                        <a:ea typeface="Calibri" charset="0"/>
                        <a:cs typeface="Calibri" charset="0"/>
                      </a:endParaRPr>
                    </a:p>
                  </a:txBody>
                  <a:tcPr marL="127000" marR="127000" marT="76200" marB="76200"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EEF3F8"/>
                    </a:solidFill>
                  </a:tcPr>
                </a:tc>
              </a:tr>
            </a:tbl>
          </a:graphicData>
        </a:graphic>
      </p:graphicFrame>
      <p:sp>
        <p:nvSpPr>
          <p:cNvPr id="5" name="Text 2"/>
          <p:cNvSpPr/>
          <p:nvPr/>
        </p:nvSpPr>
        <p:spPr>
          <a:xfrm>
            <a:off x="548640" y="6263640"/>
            <a:ext cx="11094415" cy="320040"/>
          </a:xfrm>
          <a:prstGeom prst="rect">
            <a:avLst/>
          </a:prstGeom>
          <a:noFill/>
          <a:ln/>
        </p:spPr>
        <p:txBody>
          <a:bodyPr wrap="square" rtlCol="0" anchor="ctr"/>
          <a:lstStyle/>
          <a:p>
            <a:pPr algn="ctr" indent="0" marL="0">
              <a:buNone/>
            </a:pPr>
            <a:r>
              <a:rPr lang="en-US" sz="1150" i="1" dirty="0">
                <a:solidFill>
                  <a:srgbClr val="5B6774"/>
                </a:solidFill>
                <a:latin typeface="Calibri" pitchFamily="34" charset="0"/>
                <a:ea typeface="Calibri" pitchFamily="34" charset="-122"/>
                <a:cs typeface="Calibri" pitchFamily="34" charset="-120"/>
              </a:rPr>
              <a:t>5 đặc trưng này là toàn bộ “giác quan” của ANFIS — không có dữ liệu nào khác (tuổi, giới tính…) được đưa vào mạng.</a:t>
            </a:r>
            <a:endParaRPr lang="en-US" sz="1150" dirty="0"/>
          </a:p>
        </p:txBody>
      </p:sp>
      <p:sp>
        <p:nvSpPr>
          <p:cNvPr id="6" name="Text 3"/>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7" name="Text 4"/>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HUẤN LUYỆN AI</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ANFIS được huấn luyện như thế nào?</a:t>
            </a:r>
            <a:endParaRPr lang="en-US" sz="3000" dirty="0"/>
          </a:p>
        </p:txBody>
      </p:sp>
      <p:sp>
        <p:nvSpPr>
          <p:cNvPr id="4" name="Shape 2"/>
          <p:cNvSpPr/>
          <p:nvPr/>
        </p:nvSpPr>
        <p:spPr>
          <a:xfrm>
            <a:off x="548640" y="1783080"/>
            <a:ext cx="11094415" cy="777240"/>
          </a:xfrm>
          <a:prstGeom prst="roundRect">
            <a:avLst>
              <a:gd name="adj" fmla="val 10588"/>
            </a:avLst>
          </a:prstGeom>
          <a:solidFill>
            <a:srgbClr val="FBEEE1"/>
          </a:solidFill>
          <a:ln w="12700">
            <a:solidFill>
              <a:srgbClr val="D97C2B"/>
            </a:solidFill>
            <a:prstDash val="solid"/>
          </a:ln>
        </p:spPr>
      </p:sp>
      <p:pic>
        <p:nvPicPr>
          <p:cNvPr id="5" name="Image 0" descr="/home/claude/output2/icons/warning-navy.png">    </p:cNvPr>
          <p:cNvPicPr>
            <a:picLocks noChangeAspect="1"/>
          </p:cNvPicPr>
          <p:nvPr/>
        </p:nvPicPr>
        <p:blipFill>
          <a:blip r:embed="rId1"/>
          <a:stretch>
            <a:fillRect/>
          </a:stretch>
        </p:blipFill>
        <p:spPr>
          <a:xfrm>
            <a:off x="777240" y="1965960"/>
            <a:ext cx="411480" cy="411480"/>
          </a:xfrm>
          <a:prstGeom prst="rect">
            <a:avLst/>
          </a:prstGeom>
        </p:spPr>
      </p:pic>
      <p:sp>
        <p:nvSpPr>
          <p:cNvPr id="6" name="Text 3"/>
          <p:cNvSpPr/>
          <p:nvPr/>
        </p:nvSpPr>
        <p:spPr>
          <a:xfrm>
            <a:off x="1371600" y="1783080"/>
            <a:ext cx="10180015" cy="777240"/>
          </a:xfrm>
          <a:prstGeom prst="rect">
            <a:avLst/>
          </a:prstGeom>
          <a:noFill/>
          <a:ln/>
        </p:spPr>
        <p:txBody>
          <a:bodyPr wrap="square" rtlCol="0" anchor="ctr"/>
          <a:lstStyle/>
          <a:p>
            <a:pPr indent="0" marL="0">
              <a:buNone/>
            </a:pPr>
            <a:r>
              <a:rPr lang="en-US" sz="1400" b="1" dirty="0">
                <a:solidFill>
                  <a:srgbClr val="7A3B0F"/>
                </a:solidFill>
                <a:latin typeface="Calibri" pitchFamily="34" charset="0"/>
                <a:ea typeface="Calibri" pitchFamily="34" charset="-122"/>
                <a:cs typeface="Calibri" pitchFamily="34" charset="-120"/>
              </a:rPr>
              <a:t>Dự án CHƯA có dữ liệu lâm sàng gán nhãn thật (ảnh X-quang đã bác sĩ xác nhận đúng/sai gãy).</a:t>
            </a:r>
            <a:endParaRPr lang="en-US" sz="1400" dirty="0"/>
          </a:p>
        </p:txBody>
      </p:sp>
      <p:sp>
        <p:nvSpPr>
          <p:cNvPr id="7" name="Shape 4"/>
          <p:cNvSpPr/>
          <p:nvPr/>
        </p:nvSpPr>
        <p:spPr>
          <a:xfrm>
            <a:off x="548640" y="2788920"/>
            <a:ext cx="2430704" cy="2331720"/>
          </a:xfrm>
          <a:prstGeom prst="roundRect">
            <a:avLst>
              <a:gd name="adj" fmla="val 3529"/>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8" name="Shape 5"/>
          <p:cNvSpPr/>
          <p:nvPr/>
        </p:nvSpPr>
        <p:spPr>
          <a:xfrm>
            <a:off x="1489672" y="3017520"/>
            <a:ext cx="548640" cy="548640"/>
          </a:xfrm>
          <a:prstGeom prst="ellipse">
            <a:avLst/>
          </a:prstGeom>
          <a:solidFill>
            <a:srgbClr val="12395C"/>
          </a:solidFill>
          <a:ln/>
        </p:spPr>
      </p:sp>
      <p:sp>
        <p:nvSpPr>
          <p:cNvPr id="9" name="Text 6"/>
          <p:cNvSpPr/>
          <p:nvPr/>
        </p:nvSpPr>
        <p:spPr>
          <a:xfrm>
            <a:off x="1489672"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685800" y="3703320"/>
            <a:ext cx="2156384" cy="502920"/>
          </a:xfrm>
          <a:prstGeom prst="rect">
            <a:avLst/>
          </a:prstGeom>
          <a:noFill/>
          <a:ln/>
        </p:spPr>
        <p:txBody>
          <a:bodyPr wrap="square" rtlCol="0" anchor="ctr"/>
          <a:lstStyle/>
          <a:p>
            <a:pPr algn="ctr" indent="0" marL="0">
              <a:buNone/>
            </a:pPr>
            <a:r>
              <a:rPr lang="en-US" sz="1250" b="1" dirty="0">
                <a:solidFill>
                  <a:srgbClr val="12395C"/>
                </a:solidFill>
                <a:latin typeface="Calibri" pitchFamily="34" charset="0"/>
                <a:ea typeface="Calibri" pitchFamily="34" charset="-122"/>
                <a:cs typeface="Calibri" pitchFamily="34" charset="-120"/>
              </a:rPr>
              <a:t>Viết tay luật mờ chuyên gia</a:t>
            </a:r>
            <a:endParaRPr lang="en-US" sz="1250" dirty="0"/>
          </a:p>
        </p:txBody>
      </p:sp>
      <p:sp>
        <p:nvSpPr>
          <p:cNvPr id="11" name="Text 8"/>
          <p:cNvSpPr/>
          <p:nvPr/>
        </p:nvSpPr>
        <p:spPr>
          <a:xfrm>
            <a:off x="685800" y="4206240"/>
            <a:ext cx="2156384" cy="868680"/>
          </a:xfrm>
          <a:prstGeom prst="rect">
            <a:avLst/>
          </a:prstGeom>
          <a:noFill/>
          <a:ln/>
        </p:spPr>
        <p:txBody>
          <a:bodyPr wrap="square" rtlCol="0" anchor="t"/>
          <a:lstStyle/>
          <a:p>
            <a:pPr algn="ctr" indent="0" marL="0">
              <a:buNone/>
            </a:pPr>
            <a:r>
              <a:rPr lang="en-US" sz="1050" dirty="0">
                <a:solidFill>
                  <a:srgbClr val="16212E"/>
                </a:solidFill>
                <a:latin typeface="Calibri" pitchFamily="34" charset="0"/>
                <a:ea typeface="Calibri" pitchFamily="34" charset="-122"/>
                <a:cs typeface="Calibri" pitchFamily="34" charset="-120"/>
              </a:rPr>
              <a:t>Nhóm tự thiết kế 20 luật mờ (scikit-fuzzy) mã hoá kiến thức nghiệp vụ → làm “giáo viên” (teacher).</a:t>
            </a:r>
            <a:endParaRPr lang="en-US" sz="1050" dirty="0"/>
          </a:p>
        </p:txBody>
      </p:sp>
      <p:sp>
        <p:nvSpPr>
          <p:cNvPr id="12" name="Shape 9"/>
          <p:cNvSpPr/>
          <p:nvPr/>
        </p:nvSpPr>
        <p:spPr>
          <a:xfrm>
            <a:off x="3034208" y="3291840"/>
            <a:ext cx="347472" cy="0"/>
          </a:xfrm>
          <a:prstGeom prst="line">
            <a:avLst/>
          </a:prstGeom>
          <a:noFill/>
          <a:ln w="19050">
            <a:solidFill>
              <a:srgbClr val="5B6774"/>
            </a:solidFill>
            <a:prstDash val="solid"/>
            <a:tailEnd type="triangle"/>
          </a:ln>
        </p:spPr>
      </p:sp>
      <p:sp>
        <p:nvSpPr>
          <p:cNvPr id="13" name="Shape 10"/>
          <p:cNvSpPr/>
          <p:nvPr/>
        </p:nvSpPr>
        <p:spPr>
          <a:xfrm>
            <a:off x="3436544" y="2788920"/>
            <a:ext cx="2430704" cy="2331720"/>
          </a:xfrm>
          <a:prstGeom prst="roundRect">
            <a:avLst>
              <a:gd name="adj" fmla="val 3529"/>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4" name="Shape 11"/>
          <p:cNvSpPr/>
          <p:nvPr/>
        </p:nvSpPr>
        <p:spPr>
          <a:xfrm>
            <a:off x="4377576" y="3017520"/>
            <a:ext cx="548640" cy="548640"/>
          </a:xfrm>
          <a:prstGeom prst="ellipse">
            <a:avLst/>
          </a:prstGeom>
          <a:solidFill>
            <a:srgbClr val="12395C"/>
          </a:solidFill>
          <a:ln/>
        </p:spPr>
      </p:sp>
      <p:sp>
        <p:nvSpPr>
          <p:cNvPr id="15" name="Text 12"/>
          <p:cNvSpPr/>
          <p:nvPr/>
        </p:nvSpPr>
        <p:spPr>
          <a:xfrm>
            <a:off x="4377576"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3573704" y="3703320"/>
            <a:ext cx="2156384" cy="502920"/>
          </a:xfrm>
          <a:prstGeom prst="rect">
            <a:avLst/>
          </a:prstGeom>
          <a:noFill/>
          <a:ln/>
        </p:spPr>
        <p:txBody>
          <a:bodyPr wrap="square" rtlCol="0" anchor="ctr"/>
          <a:lstStyle/>
          <a:p>
            <a:pPr algn="ctr" indent="0" marL="0">
              <a:buNone/>
            </a:pPr>
            <a:r>
              <a:rPr lang="en-US" sz="1250" b="1" dirty="0">
                <a:solidFill>
                  <a:srgbClr val="12395C"/>
                </a:solidFill>
                <a:latin typeface="Calibri" pitchFamily="34" charset="0"/>
                <a:ea typeface="Calibri" pitchFamily="34" charset="-122"/>
                <a:cs typeface="Calibri" pitchFamily="34" charset="-120"/>
              </a:rPr>
              <a:t>Sinh dữ liệu tổng hợp</a:t>
            </a:r>
            <a:endParaRPr lang="en-US" sz="1250" dirty="0"/>
          </a:p>
        </p:txBody>
      </p:sp>
      <p:sp>
        <p:nvSpPr>
          <p:cNvPr id="17" name="Text 14"/>
          <p:cNvSpPr/>
          <p:nvPr/>
        </p:nvSpPr>
        <p:spPr>
          <a:xfrm>
            <a:off x="3573704" y="4206240"/>
            <a:ext cx="2156384" cy="868680"/>
          </a:xfrm>
          <a:prstGeom prst="rect">
            <a:avLst/>
          </a:prstGeom>
          <a:noFill/>
          <a:ln/>
        </p:spPr>
        <p:txBody>
          <a:bodyPr wrap="square" rtlCol="0" anchor="t"/>
          <a:lstStyle/>
          <a:p>
            <a:pPr algn="ctr" indent="0" marL="0">
              <a:buNone/>
            </a:pPr>
            <a:r>
              <a:rPr lang="en-US" sz="1050" dirty="0">
                <a:solidFill>
                  <a:srgbClr val="16212E"/>
                </a:solidFill>
                <a:latin typeface="Calibri" pitchFamily="34" charset="0"/>
                <a:ea typeface="Calibri" pitchFamily="34" charset="-122"/>
                <a:cs typeface="Calibri" pitchFamily="34" charset="-120"/>
              </a:rPr>
              <a:t>Sinh ngẫu nhiên 8.000 mẫu 5 chiều, cho giáo viên chấm điểm để tạo nhãn “đúng” cho từng mẫu.</a:t>
            </a:r>
            <a:endParaRPr lang="en-US" sz="1050" dirty="0"/>
          </a:p>
        </p:txBody>
      </p:sp>
      <p:sp>
        <p:nvSpPr>
          <p:cNvPr id="18" name="Shape 15"/>
          <p:cNvSpPr/>
          <p:nvPr/>
        </p:nvSpPr>
        <p:spPr>
          <a:xfrm>
            <a:off x="5922112" y="3291840"/>
            <a:ext cx="347472" cy="0"/>
          </a:xfrm>
          <a:prstGeom prst="line">
            <a:avLst/>
          </a:prstGeom>
          <a:noFill/>
          <a:ln w="19050">
            <a:solidFill>
              <a:srgbClr val="5B6774"/>
            </a:solidFill>
            <a:prstDash val="solid"/>
            <a:tailEnd type="triangle"/>
          </a:ln>
        </p:spPr>
      </p:sp>
      <p:sp>
        <p:nvSpPr>
          <p:cNvPr id="19" name="Shape 16"/>
          <p:cNvSpPr/>
          <p:nvPr/>
        </p:nvSpPr>
        <p:spPr>
          <a:xfrm>
            <a:off x="6324448" y="2788920"/>
            <a:ext cx="2430704" cy="2331720"/>
          </a:xfrm>
          <a:prstGeom prst="roundRect">
            <a:avLst>
              <a:gd name="adj" fmla="val 3529"/>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20" name="Shape 17"/>
          <p:cNvSpPr/>
          <p:nvPr/>
        </p:nvSpPr>
        <p:spPr>
          <a:xfrm>
            <a:off x="7265480" y="3017520"/>
            <a:ext cx="548640" cy="548640"/>
          </a:xfrm>
          <a:prstGeom prst="ellipse">
            <a:avLst/>
          </a:prstGeom>
          <a:solidFill>
            <a:srgbClr val="12395C"/>
          </a:solidFill>
          <a:ln/>
        </p:spPr>
      </p:sp>
      <p:sp>
        <p:nvSpPr>
          <p:cNvPr id="21" name="Text 18"/>
          <p:cNvSpPr/>
          <p:nvPr/>
        </p:nvSpPr>
        <p:spPr>
          <a:xfrm>
            <a:off x="7265480"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9"/>
          <p:cNvSpPr/>
          <p:nvPr/>
        </p:nvSpPr>
        <p:spPr>
          <a:xfrm>
            <a:off x="6461608" y="3703320"/>
            <a:ext cx="2156384" cy="502920"/>
          </a:xfrm>
          <a:prstGeom prst="rect">
            <a:avLst/>
          </a:prstGeom>
          <a:noFill/>
          <a:ln/>
        </p:spPr>
        <p:txBody>
          <a:bodyPr wrap="square" rtlCol="0" anchor="ctr"/>
          <a:lstStyle/>
          <a:p>
            <a:pPr algn="ctr" indent="0" marL="0">
              <a:buNone/>
            </a:pPr>
            <a:r>
              <a:rPr lang="en-US" sz="1250" b="1" dirty="0">
                <a:solidFill>
                  <a:srgbClr val="12395C"/>
                </a:solidFill>
                <a:latin typeface="Calibri" pitchFamily="34" charset="0"/>
                <a:ea typeface="Calibri" pitchFamily="34" charset="-122"/>
                <a:cs typeface="Calibri" pitchFamily="34" charset="-120"/>
              </a:rPr>
              <a:t>Huấn luyện mạng ANFIS</a:t>
            </a:r>
            <a:endParaRPr lang="en-US" sz="1250" dirty="0"/>
          </a:p>
        </p:txBody>
      </p:sp>
      <p:sp>
        <p:nvSpPr>
          <p:cNvPr id="23" name="Text 20"/>
          <p:cNvSpPr/>
          <p:nvPr/>
        </p:nvSpPr>
        <p:spPr>
          <a:xfrm>
            <a:off x="6461608" y="4206240"/>
            <a:ext cx="2156384" cy="868680"/>
          </a:xfrm>
          <a:prstGeom prst="rect">
            <a:avLst/>
          </a:prstGeom>
          <a:noFill/>
          <a:ln/>
        </p:spPr>
        <p:txBody>
          <a:bodyPr wrap="square" rtlCol="0" anchor="t"/>
          <a:lstStyle/>
          <a:p>
            <a:pPr algn="ctr" indent="0" marL="0">
              <a:buNone/>
            </a:pPr>
            <a:r>
              <a:rPr lang="en-US" sz="1050" dirty="0">
                <a:solidFill>
                  <a:srgbClr val="16212E"/>
                </a:solidFill>
                <a:latin typeface="Calibri" pitchFamily="34" charset="0"/>
                <a:ea typeface="Calibri" pitchFamily="34" charset="-122"/>
                <a:cs typeface="Calibri" pitchFamily="34" charset="-120"/>
              </a:rPr>
              <a:t>Train 80 epoch, batch size 128, learning rate 0.003 — để mạng tái tạo lại đúng đầu ra của giáo viên.</a:t>
            </a:r>
            <a:endParaRPr lang="en-US" sz="1050" dirty="0"/>
          </a:p>
        </p:txBody>
      </p:sp>
      <p:sp>
        <p:nvSpPr>
          <p:cNvPr id="24" name="Shape 21"/>
          <p:cNvSpPr/>
          <p:nvPr/>
        </p:nvSpPr>
        <p:spPr>
          <a:xfrm>
            <a:off x="8810015" y="3291840"/>
            <a:ext cx="347472" cy="0"/>
          </a:xfrm>
          <a:prstGeom prst="line">
            <a:avLst/>
          </a:prstGeom>
          <a:noFill/>
          <a:ln w="19050">
            <a:solidFill>
              <a:srgbClr val="5B6774"/>
            </a:solidFill>
            <a:prstDash val="solid"/>
            <a:tailEnd type="triangle"/>
          </a:ln>
        </p:spPr>
      </p:sp>
      <p:sp>
        <p:nvSpPr>
          <p:cNvPr id="25" name="Shape 22"/>
          <p:cNvSpPr/>
          <p:nvPr/>
        </p:nvSpPr>
        <p:spPr>
          <a:xfrm>
            <a:off x="9212351" y="2788920"/>
            <a:ext cx="2430704" cy="2331720"/>
          </a:xfrm>
          <a:prstGeom prst="roundRect">
            <a:avLst>
              <a:gd name="adj" fmla="val 3529"/>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26" name="Shape 23"/>
          <p:cNvSpPr/>
          <p:nvPr/>
        </p:nvSpPr>
        <p:spPr>
          <a:xfrm>
            <a:off x="10153383" y="3017520"/>
            <a:ext cx="548640" cy="548640"/>
          </a:xfrm>
          <a:prstGeom prst="ellipse">
            <a:avLst/>
          </a:prstGeom>
          <a:solidFill>
            <a:srgbClr val="12395C"/>
          </a:solidFill>
          <a:ln/>
        </p:spPr>
      </p:sp>
      <p:sp>
        <p:nvSpPr>
          <p:cNvPr id="27" name="Text 24"/>
          <p:cNvSpPr/>
          <p:nvPr/>
        </p:nvSpPr>
        <p:spPr>
          <a:xfrm>
            <a:off x="10153383"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5"/>
          <p:cNvSpPr/>
          <p:nvPr/>
        </p:nvSpPr>
        <p:spPr>
          <a:xfrm>
            <a:off x="9349511" y="3703320"/>
            <a:ext cx="2156384" cy="502920"/>
          </a:xfrm>
          <a:prstGeom prst="rect">
            <a:avLst/>
          </a:prstGeom>
          <a:noFill/>
          <a:ln/>
        </p:spPr>
        <p:txBody>
          <a:bodyPr wrap="square" rtlCol="0" anchor="ctr"/>
          <a:lstStyle/>
          <a:p>
            <a:pPr algn="ctr" indent="0" marL="0">
              <a:buNone/>
            </a:pPr>
            <a:r>
              <a:rPr lang="en-US" sz="1250" b="1" dirty="0">
                <a:solidFill>
                  <a:srgbClr val="12395C"/>
                </a:solidFill>
                <a:latin typeface="Calibri" pitchFamily="34" charset="0"/>
                <a:ea typeface="Calibri" pitchFamily="34" charset="-122"/>
                <a:cs typeface="Calibri" pitchFamily="34" charset="-120"/>
              </a:rPr>
              <a:t>Lưu trọng số + cơ chế dự phòng</a:t>
            </a:r>
            <a:endParaRPr lang="en-US" sz="1250" dirty="0"/>
          </a:p>
        </p:txBody>
      </p:sp>
      <p:sp>
        <p:nvSpPr>
          <p:cNvPr id="29" name="Text 26"/>
          <p:cNvSpPr/>
          <p:nvPr/>
        </p:nvSpPr>
        <p:spPr>
          <a:xfrm>
            <a:off x="9349511" y="4206240"/>
            <a:ext cx="2156384" cy="868680"/>
          </a:xfrm>
          <a:prstGeom prst="rect">
            <a:avLst/>
          </a:prstGeom>
          <a:noFill/>
          <a:ln/>
        </p:spPr>
        <p:txBody>
          <a:bodyPr wrap="square" rtlCol="0" anchor="t"/>
          <a:lstStyle/>
          <a:p>
            <a:pPr algn="ctr" indent="0" marL="0">
              <a:buNone/>
            </a:pPr>
            <a:r>
              <a:rPr lang="en-US" sz="1050" dirty="0">
                <a:solidFill>
                  <a:srgbClr val="16212E"/>
                </a:solidFill>
                <a:latin typeface="Calibri" pitchFamily="34" charset="0"/>
                <a:ea typeface="Calibri" pitchFamily="34" charset="-122"/>
                <a:cs typeface="Calibri" pitchFamily="34" charset="-120"/>
              </a:rPr>
              <a:t>Lưu weights đã học; nếu file lỗi/thiếu → tự động fallback dùng lại hệ luật viết tay, hệ thống không bao giờ “chết”.</a:t>
            </a:r>
            <a:endParaRPr lang="en-US" sz="1050" dirty="0"/>
          </a:p>
        </p:txBody>
      </p:sp>
      <p:sp>
        <p:nvSpPr>
          <p:cNvPr id="30" name="Shape 27"/>
          <p:cNvSpPr/>
          <p:nvPr/>
        </p:nvSpPr>
        <p:spPr>
          <a:xfrm>
            <a:off x="548640" y="5349240"/>
            <a:ext cx="11094415" cy="868680"/>
          </a:xfrm>
          <a:prstGeom prst="roundRect">
            <a:avLst>
              <a:gd name="adj" fmla="val 9474"/>
            </a:avLst>
          </a:prstGeom>
          <a:solidFill>
            <a:srgbClr val="E9F2F6"/>
          </a:solidFill>
          <a:ln w="12700">
            <a:solidFill>
              <a:srgbClr val="1C7293"/>
            </a:solidFill>
            <a:prstDash val="solid"/>
          </a:ln>
        </p:spPr>
      </p:sp>
      <p:sp>
        <p:nvSpPr>
          <p:cNvPr id="31" name="Text 28"/>
          <p:cNvSpPr/>
          <p:nvPr/>
        </p:nvSpPr>
        <p:spPr>
          <a:xfrm>
            <a:off x="777240" y="5349240"/>
            <a:ext cx="10637215" cy="86868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Câu trả lời gợi ý khi bị hỏi “ANFIS train trên dữ liệu gì”:  </a:t>
            </a:r>
            <a:pPr indent="0" marL="0">
              <a:buNone/>
            </a:pPr>
            <a:r>
              <a:rPr lang="en-US" sz="1250" i="1" dirty="0">
                <a:solidFill>
                  <a:srgbClr val="16212E"/>
                </a:solidFill>
                <a:latin typeface="Calibri" pitchFamily="34" charset="0"/>
                <a:ea typeface="Calibri" pitchFamily="34" charset="-122"/>
                <a:cs typeface="Calibri" pitchFamily="34" charset="-120"/>
              </a:rPr>
              <a:t>“ANFIS không train trên dữ liệu bệnh nhân thật, mà học lại cách suy luận của một hệ luật mờ do nhóm tự thiết kế — kỹ thuật distillation.”</a:t>
            </a:r>
            <a:endParaRPr lang="en-US" sz="1250" dirty="0"/>
          </a:p>
        </p:txBody>
      </p:sp>
      <p:sp>
        <p:nvSpPr>
          <p:cNvPr id="32" name="Text 29"/>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33" name="Text 30"/>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QUAN TRỌNG NHẤT</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Luồng xử lý AI — từ ảnh đến kết quả</a:t>
            </a:r>
            <a:endParaRPr lang="en-US" sz="3000" dirty="0"/>
          </a:p>
        </p:txBody>
      </p:sp>
      <p:sp>
        <p:nvSpPr>
          <p:cNvPr id="4" name="Shape 2"/>
          <p:cNvSpPr/>
          <p:nvPr/>
        </p:nvSpPr>
        <p:spPr>
          <a:xfrm>
            <a:off x="1143000" y="2322576"/>
            <a:ext cx="292608" cy="292608"/>
          </a:xfrm>
          <a:prstGeom prst="ellipse">
            <a:avLst/>
          </a:prstGeom>
          <a:solidFill>
            <a:srgbClr val="D97C2B"/>
          </a:solidFill>
          <a:ln/>
        </p:spPr>
      </p:sp>
      <p:sp>
        <p:nvSpPr>
          <p:cNvPr id="5" name="Text 3"/>
          <p:cNvSpPr/>
          <p:nvPr/>
        </p:nvSpPr>
        <p:spPr>
          <a:xfrm>
            <a:off x="1143000"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Shape 4"/>
          <p:cNvSpPr/>
          <p:nvPr/>
        </p:nvSpPr>
        <p:spPr>
          <a:xfrm>
            <a:off x="2935224" y="2322576"/>
            <a:ext cx="292608" cy="292608"/>
          </a:xfrm>
          <a:prstGeom prst="ellipse">
            <a:avLst/>
          </a:prstGeom>
          <a:solidFill>
            <a:srgbClr val="D97C2B"/>
          </a:solidFill>
          <a:ln/>
        </p:spPr>
      </p:sp>
      <p:sp>
        <p:nvSpPr>
          <p:cNvPr id="7" name="Text 5"/>
          <p:cNvSpPr/>
          <p:nvPr/>
        </p:nvSpPr>
        <p:spPr>
          <a:xfrm>
            <a:off x="2935224"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8" name="Shape 6"/>
          <p:cNvSpPr/>
          <p:nvPr/>
        </p:nvSpPr>
        <p:spPr>
          <a:xfrm>
            <a:off x="4727448" y="2322576"/>
            <a:ext cx="292608" cy="292608"/>
          </a:xfrm>
          <a:prstGeom prst="ellipse">
            <a:avLst/>
          </a:prstGeom>
          <a:solidFill>
            <a:srgbClr val="D97C2B"/>
          </a:solidFill>
          <a:ln/>
        </p:spPr>
      </p:sp>
      <p:sp>
        <p:nvSpPr>
          <p:cNvPr id="9" name="Text 7"/>
          <p:cNvSpPr/>
          <p:nvPr/>
        </p:nvSpPr>
        <p:spPr>
          <a:xfrm>
            <a:off x="4727448"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0" name="Shape 8"/>
          <p:cNvSpPr/>
          <p:nvPr/>
        </p:nvSpPr>
        <p:spPr>
          <a:xfrm>
            <a:off x="6519672" y="2322576"/>
            <a:ext cx="292608" cy="292608"/>
          </a:xfrm>
          <a:prstGeom prst="ellipse">
            <a:avLst/>
          </a:prstGeom>
          <a:solidFill>
            <a:srgbClr val="D97C2B"/>
          </a:solidFill>
          <a:ln/>
        </p:spPr>
      </p:sp>
      <p:sp>
        <p:nvSpPr>
          <p:cNvPr id="11" name="Text 9"/>
          <p:cNvSpPr/>
          <p:nvPr/>
        </p:nvSpPr>
        <p:spPr>
          <a:xfrm>
            <a:off x="6519672"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2" name="Shape 10"/>
          <p:cNvSpPr/>
          <p:nvPr/>
        </p:nvSpPr>
        <p:spPr>
          <a:xfrm>
            <a:off x="8311896" y="2322576"/>
            <a:ext cx="292608" cy="292608"/>
          </a:xfrm>
          <a:prstGeom prst="ellipse">
            <a:avLst/>
          </a:prstGeom>
          <a:solidFill>
            <a:srgbClr val="D97C2B"/>
          </a:solidFill>
          <a:ln/>
        </p:spPr>
      </p:sp>
      <p:sp>
        <p:nvSpPr>
          <p:cNvPr id="13" name="Text 11"/>
          <p:cNvSpPr/>
          <p:nvPr/>
        </p:nvSpPr>
        <p:spPr>
          <a:xfrm>
            <a:off x="8311896"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4" name="Shape 12"/>
          <p:cNvSpPr/>
          <p:nvPr/>
        </p:nvSpPr>
        <p:spPr>
          <a:xfrm>
            <a:off x="10104120" y="2322576"/>
            <a:ext cx="292608" cy="292608"/>
          </a:xfrm>
          <a:prstGeom prst="ellipse">
            <a:avLst/>
          </a:prstGeom>
          <a:solidFill>
            <a:srgbClr val="D97C2B"/>
          </a:solidFill>
          <a:ln/>
        </p:spPr>
      </p:sp>
      <p:sp>
        <p:nvSpPr>
          <p:cNvPr id="15" name="Text 13"/>
          <p:cNvSpPr/>
          <p:nvPr/>
        </p:nvSpPr>
        <p:spPr>
          <a:xfrm>
            <a:off x="10104120" y="2322576"/>
            <a:ext cx="292608" cy="2926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16" name="Shape 14"/>
          <p:cNvSpPr/>
          <p:nvPr/>
        </p:nvSpPr>
        <p:spPr>
          <a:xfrm>
            <a:off x="548640" y="2743200"/>
            <a:ext cx="1481328" cy="1234440"/>
          </a:xfrm>
          <a:prstGeom prst="roundRect">
            <a:avLst>
              <a:gd name="adj" fmla="val 7407"/>
            </a:avLst>
          </a:prstGeom>
          <a:solidFill>
            <a:srgbClr val="12395C"/>
          </a:solidFill>
          <a:ln/>
          <a:effectLst>
            <a:outerShdw sx="100000" sy="100000" kx="0" ky="0" algn="bl" rotWithShape="0" blurRad="76200" dist="25400" dir="5400000">
              <a:srgbClr val="9AA7B4">
                <a:alpha val="28000"/>
              </a:srgbClr>
            </a:outerShdw>
          </a:effectLst>
        </p:spPr>
      </p:sp>
      <p:pic>
        <p:nvPicPr>
          <p:cNvPr id="17" name="Image 0" descr="/home/claude/output2/icons/image.png">    </p:cNvPr>
          <p:cNvPicPr>
            <a:picLocks noChangeAspect="1"/>
          </p:cNvPicPr>
          <p:nvPr/>
        </p:nvPicPr>
        <p:blipFill>
          <a:blip r:embed="rId1"/>
          <a:stretch>
            <a:fillRect/>
          </a:stretch>
        </p:blipFill>
        <p:spPr>
          <a:xfrm>
            <a:off x="1051560" y="2871216"/>
            <a:ext cx="475488" cy="475488"/>
          </a:xfrm>
          <a:prstGeom prst="rect">
            <a:avLst/>
          </a:prstGeom>
        </p:spPr>
      </p:pic>
      <p:sp>
        <p:nvSpPr>
          <p:cNvPr id="18" name="Text 15"/>
          <p:cNvSpPr/>
          <p:nvPr/>
        </p:nvSpPr>
        <p:spPr>
          <a:xfrm>
            <a:off x="621792" y="338328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Ảnh X-quang</a:t>
            </a:r>
            <a:endParaRPr lang="en-US" sz="1150" dirty="0"/>
          </a:p>
        </p:txBody>
      </p:sp>
      <p:sp>
        <p:nvSpPr>
          <p:cNvPr id="19" name="Text 16"/>
          <p:cNvSpPr/>
          <p:nvPr/>
        </p:nvSpPr>
        <p:spPr>
          <a:xfrm>
            <a:off x="621792" y="368503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đầu vào</a:t>
            </a:r>
            <a:endParaRPr lang="en-US" sz="900" dirty="0"/>
          </a:p>
        </p:txBody>
      </p:sp>
      <p:sp>
        <p:nvSpPr>
          <p:cNvPr id="20" name="Shape 17"/>
          <p:cNvSpPr/>
          <p:nvPr/>
        </p:nvSpPr>
        <p:spPr>
          <a:xfrm>
            <a:off x="2340864" y="2743200"/>
            <a:ext cx="1481328" cy="1234440"/>
          </a:xfrm>
          <a:prstGeom prst="roundRect">
            <a:avLst>
              <a:gd name="adj" fmla="val 7407"/>
            </a:avLst>
          </a:prstGeom>
          <a:solidFill>
            <a:srgbClr val="12395C"/>
          </a:solidFill>
          <a:ln/>
          <a:effectLst>
            <a:outerShdw sx="100000" sy="100000" kx="0" ky="0" algn="bl" rotWithShape="0" blurRad="76200" dist="25400" dir="5400000">
              <a:srgbClr val="9AA7B4">
                <a:alpha val="28000"/>
              </a:srgbClr>
            </a:outerShdw>
          </a:effectLst>
        </p:spPr>
      </p:sp>
      <p:pic>
        <p:nvPicPr>
          <p:cNvPr id="21" name="Image 1" descr="/home/claude/output2/icons/cogs.png">    </p:cNvPr>
          <p:cNvPicPr>
            <a:picLocks noChangeAspect="1"/>
          </p:cNvPicPr>
          <p:nvPr/>
        </p:nvPicPr>
        <p:blipFill>
          <a:blip r:embed="rId2"/>
          <a:stretch>
            <a:fillRect/>
          </a:stretch>
        </p:blipFill>
        <p:spPr>
          <a:xfrm>
            <a:off x="2843784" y="2871216"/>
            <a:ext cx="475488" cy="475488"/>
          </a:xfrm>
          <a:prstGeom prst="rect">
            <a:avLst/>
          </a:prstGeom>
        </p:spPr>
      </p:pic>
      <p:sp>
        <p:nvSpPr>
          <p:cNvPr id="22" name="Text 18"/>
          <p:cNvSpPr/>
          <p:nvPr/>
        </p:nvSpPr>
        <p:spPr>
          <a:xfrm>
            <a:off x="2414016" y="338328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Tiền xử lý</a:t>
            </a:r>
            <a:endParaRPr lang="en-US" sz="1150" dirty="0"/>
          </a:p>
        </p:txBody>
      </p:sp>
      <p:sp>
        <p:nvSpPr>
          <p:cNvPr id="23" name="Text 19"/>
          <p:cNvSpPr/>
          <p:nvPr/>
        </p:nvSpPr>
        <p:spPr>
          <a:xfrm>
            <a:off x="2414016" y="368503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làm rõ ảnh (CLAHE)</a:t>
            </a:r>
            <a:endParaRPr lang="en-US" sz="900" dirty="0"/>
          </a:p>
        </p:txBody>
      </p:sp>
      <p:sp>
        <p:nvSpPr>
          <p:cNvPr id="24" name="Shape 20"/>
          <p:cNvSpPr/>
          <p:nvPr/>
        </p:nvSpPr>
        <p:spPr>
          <a:xfrm>
            <a:off x="2075688" y="3360420"/>
            <a:ext cx="219456" cy="0"/>
          </a:xfrm>
          <a:prstGeom prst="line">
            <a:avLst/>
          </a:prstGeom>
          <a:noFill/>
          <a:ln w="22225">
            <a:solidFill>
              <a:srgbClr val="5B6774"/>
            </a:solidFill>
            <a:prstDash val="solid"/>
            <a:tailEnd type="triangle"/>
          </a:ln>
        </p:spPr>
      </p:sp>
      <p:sp>
        <p:nvSpPr>
          <p:cNvPr id="25" name="Shape 21"/>
          <p:cNvSpPr/>
          <p:nvPr/>
        </p:nvSpPr>
        <p:spPr>
          <a:xfrm>
            <a:off x="3867912" y="3360420"/>
            <a:ext cx="219456" cy="0"/>
          </a:xfrm>
          <a:prstGeom prst="line">
            <a:avLst/>
          </a:prstGeom>
          <a:noFill/>
          <a:ln w="22225">
            <a:solidFill>
              <a:srgbClr val="5B6774"/>
            </a:solidFill>
            <a:prstDash val="solid"/>
            <a:tailEnd type="triangle"/>
          </a:ln>
        </p:spPr>
      </p:sp>
      <p:sp>
        <p:nvSpPr>
          <p:cNvPr id="26" name="Shape 22"/>
          <p:cNvSpPr/>
          <p:nvPr/>
        </p:nvSpPr>
        <p:spPr>
          <a:xfrm>
            <a:off x="4133088" y="1965960"/>
            <a:ext cx="1481328" cy="1234440"/>
          </a:xfrm>
          <a:prstGeom prst="roundRect">
            <a:avLst>
              <a:gd name="adj" fmla="val 7407"/>
            </a:avLst>
          </a:prstGeom>
          <a:solidFill>
            <a:srgbClr val="12395C"/>
          </a:solidFill>
          <a:ln/>
          <a:effectLst>
            <a:outerShdw sx="100000" sy="100000" kx="0" ky="0" algn="bl" rotWithShape="0" blurRad="76200" dist="25400" dir="5400000">
              <a:srgbClr val="9AA7B4">
                <a:alpha val="28000"/>
              </a:srgbClr>
            </a:outerShdw>
          </a:effectLst>
        </p:spPr>
      </p:sp>
      <p:pic>
        <p:nvPicPr>
          <p:cNvPr id="27" name="Image 2" descr="/home/claude/output2/icons/yolo.png">    </p:cNvPr>
          <p:cNvPicPr>
            <a:picLocks noChangeAspect="1"/>
          </p:cNvPicPr>
          <p:nvPr/>
        </p:nvPicPr>
        <p:blipFill>
          <a:blip r:embed="rId3"/>
          <a:stretch>
            <a:fillRect/>
          </a:stretch>
        </p:blipFill>
        <p:spPr>
          <a:xfrm>
            <a:off x="4636008" y="2093976"/>
            <a:ext cx="475488" cy="475488"/>
          </a:xfrm>
          <a:prstGeom prst="rect">
            <a:avLst/>
          </a:prstGeom>
        </p:spPr>
      </p:pic>
      <p:sp>
        <p:nvSpPr>
          <p:cNvPr id="28" name="Text 23"/>
          <p:cNvSpPr/>
          <p:nvPr/>
        </p:nvSpPr>
        <p:spPr>
          <a:xfrm>
            <a:off x="4206240" y="260604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YOLOv11</a:t>
            </a:r>
            <a:endParaRPr lang="en-US" sz="1150" dirty="0"/>
          </a:p>
        </p:txBody>
      </p:sp>
      <p:sp>
        <p:nvSpPr>
          <p:cNvPr id="29" name="Text 24"/>
          <p:cNvSpPr/>
          <p:nvPr/>
        </p:nvSpPr>
        <p:spPr>
          <a:xfrm>
            <a:off x="4206240" y="290779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dò vùng gãy</a:t>
            </a:r>
            <a:endParaRPr lang="en-US" sz="900" dirty="0"/>
          </a:p>
        </p:txBody>
      </p:sp>
      <p:sp>
        <p:nvSpPr>
          <p:cNvPr id="30" name="Shape 25"/>
          <p:cNvSpPr/>
          <p:nvPr/>
        </p:nvSpPr>
        <p:spPr>
          <a:xfrm>
            <a:off x="4133088" y="3520440"/>
            <a:ext cx="1481328" cy="1234440"/>
          </a:xfrm>
          <a:prstGeom prst="roundRect">
            <a:avLst>
              <a:gd name="adj" fmla="val 7407"/>
            </a:avLst>
          </a:prstGeom>
          <a:solidFill>
            <a:srgbClr val="1C7293"/>
          </a:solidFill>
          <a:ln/>
          <a:effectLst>
            <a:outerShdw sx="100000" sy="100000" kx="0" ky="0" algn="bl" rotWithShape="0" blurRad="76200" dist="25400" dir="5400000">
              <a:srgbClr val="9AA7B4">
                <a:alpha val="28000"/>
              </a:srgbClr>
            </a:outerShdw>
          </a:effectLst>
        </p:spPr>
      </p:sp>
      <p:pic>
        <p:nvPicPr>
          <p:cNvPr id="31" name="Image 3" descr="/home/claude/output2/icons/fractal.png">    </p:cNvPr>
          <p:cNvPicPr>
            <a:picLocks noChangeAspect="1"/>
          </p:cNvPicPr>
          <p:nvPr/>
        </p:nvPicPr>
        <p:blipFill>
          <a:blip r:embed="rId4"/>
          <a:stretch>
            <a:fillRect/>
          </a:stretch>
        </p:blipFill>
        <p:spPr>
          <a:xfrm>
            <a:off x="4636008" y="3648456"/>
            <a:ext cx="475488" cy="475488"/>
          </a:xfrm>
          <a:prstGeom prst="rect">
            <a:avLst/>
          </a:prstGeom>
        </p:spPr>
      </p:pic>
      <p:sp>
        <p:nvSpPr>
          <p:cNvPr id="32" name="Text 26"/>
          <p:cNvSpPr/>
          <p:nvPr/>
        </p:nvSpPr>
        <p:spPr>
          <a:xfrm>
            <a:off x="4206240" y="416052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Fractal</a:t>
            </a:r>
            <a:endParaRPr lang="en-US" sz="1150" dirty="0"/>
          </a:p>
        </p:txBody>
      </p:sp>
      <p:sp>
        <p:nvSpPr>
          <p:cNvPr id="33" name="Text 27"/>
          <p:cNvSpPr/>
          <p:nvPr/>
        </p:nvSpPr>
        <p:spPr>
          <a:xfrm>
            <a:off x="4206240" y="446227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đo độ gồ ghề viền</a:t>
            </a:r>
            <a:endParaRPr lang="en-US" sz="900" dirty="0"/>
          </a:p>
        </p:txBody>
      </p:sp>
      <p:sp>
        <p:nvSpPr>
          <p:cNvPr id="34" name="Shape 28"/>
          <p:cNvSpPr/>
          <p:nvPr/>
        </p:nvSpPr>
        <p:spPr>
          <a:xfrm>
            <a:off x="4087368" y="3360420"/>
            <a:ext cx="0" cy="-777240"/>
          </a:xfrm>
          <a:prstGeom prst="line">
            <a:avLst/>
          </a:prstGeom>
          <a:noFill/>
          <a:ln w="22225">
            <a:solidFill>
              <a:srgbClr val="5B6774"/>
            </a:solidFill>
            <a:prstDash val="solid"/>
            <a:tailEnd type="none"/>
          </a:ln>
        </p:spPr>
      </p:sp>
      <p:sp>
        <p:nvSpPr>
          <p:cNvPr id="35" name="Shape 29"/>
          <p:cNvSpPr/>
          <p:nvPr/>
        </p:nvSpPr>
        <p:spPr>
          <a:xfrm>
            <a:off x="4087368" y="3360420"/>
            <a:ext cx="0" cy="777240"/>
          </a:xfrm>
          <a:prstGeom prst="line">
            <a:avLst/>
          </a:prstGeom>
          <a:noFill/>
          <a:ln w="22225">
            <a:solidFill>
              <a:srgbClr val="5B6774"/>
            </a:solidFill>
            <a:prstDash val="solid"/>
            <a:tailEnd type="none"/>
          </a:ln>
        </p:spPr>
      </p:sp>
      <p:sp>
        <p:nvSpPr>
          <p:cNvPr id="36" name="Shape 30"/>
          <p:cNvSpPr/>
          <p:nvPr/>
        </p:nvSpPr>
        <p:spPr>
          <a:xfrm>
            <a:off x="4087368" y="2583180"/>
            <a:ext cx="45720" cy="0"/>
          </a:xfrm>
          <a:prstGeom prst="line">
            <a:avLst/>
          </a:prstGeom>
          <a:noFill/>
          <a:ln w="22225">
            <a:solidFill>
              <a:srgbClr val="5B6774"/>
            </a:solidFill>
            <a:prstDash val="solid"/>
            <a:tailEnd type="triangle"/>
          </a:ln>
        </p:spPr>
      </p:sp>
      <p:sp>
        <p:nvSpPr>
          <p:cNvPr id="37" name="Shape 31"/>
          <p:cNvSpPr/>
          <p:nvPr/>
        </p:nvSpPr>
        <p:spPr>
          <a:xfrm>
            <a:off x="4087368" y="4137660"/>
            <a:ext cx="45720" cy="0"/>
          </a:xfrm>
          <a:prstGeom prst="line">
            <a:avLst/>
          </a:prstGeom>
          <a:noFill/>
          <a:ln w="22225">
            <a:solidFill>
              <a:srgbClr val="5B6774"/>
            </a:solidFill>
            <a:prstDash val="solid"/>
            <a:tailEnd type="triangle"/>
          </a:ln>
        </p:spPr>
      </p:sp>
      <p:sp>
        <p:nvSpPr>
          <p:cNvPr id="38" name="Shape 32"/>
          <p:cNvSpPr/>
          <p:nvPr/>
        </p:nvSpPr>
        <p:spPr>
          <a:xfrm>
            <a:off x="5925312" y="2743200"/>
            <a:ext cx="1481328" cy="1234440"/>
          </a:xfrm>
          <a:prstGeom prst="roundRect">
            <a:avLst>
              <a:gd name="adj" fmla="val 7407"/>
            </a:avLst>
          </a:prstGeom>
          <a:solidFill>
            <a:srgbClr val="D97C2B"/>
          </a:solidFill>
          <a:ln/>
          <a:effectLst>
            <a:outerShdw sx="100000" sy="100000" kx="0" ky="0" algn="bl" rotWithShape="0" blurRad="76200" dist="25400" dir="5400000">
              <a:srgbClr val="9AA7B4">
                <a:alpha val="28000"/>
              </a:srgbClr>
            </a:outerShdw>
          </a:effectLst>
        </p:spPr>
      </p:sp>
      <p:pic>
        <p:nvPicPr>
          <p:cNvPr id="39" name="Image 4" descr="/home/claude/output2/icons/filter.png">    </p:cNvPr>
          <p:cNvPicPr>
            <a:picLocks noChangeAspect="1"/>
          </p:cNvPicPr>
          <p:nvPr/>
        </p:nvPicPr>
        <p:blipFill>
          <a:blip r:embed="rId5"/>
          <a:stretch>
            <a:fillRect/>
          </a:stretch>
        </p:blipFill>
        <p:spPr>
          <a:xfrm>
            <a:off x="6428232" y="2871216"/>
            <a:ext cx="475488" cy="475488"/>
          </a:xfrm>
          <a:prstGeom prst="rect">
            <a:avLst/>
          </a:prstGeom>
        </p:spPr>
      </p:pic>
      <p:sp>
        <p:nvSpPr>
          <p:cNvPr id="40" name="Text 33"/>
          <p:cNvSpPr/>
          <p:nvPr/>
        </p:nvSpPr>
        <p:spPr>
          <a:xfrm>
            <a:off x="5998464" y="338328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Gộp &amp; trích</a:t>
            </a:r>
            <a:endParaRPr lang="en-US" sz="1150" dirty="0"/>
          </a:p>
        </p:txBody>
      </p:sp>
      <p:sp>
        <p:nvSpPr>
          <p:cNvPr id="41" name="Text 34"/>
          <p:cNvSpPr/>
          <p:nvPr/>
        </p:nvSpPr>
        <p:spPr>
          <a:xfrm>
            <a:off x="5998464" y="368503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NMS + 9 đặc trưng</a:t>
            </a:r>
            <a:endParaRPr lang="en-US" sz="900" dirty="0"/>
          </a:p>
        </p:txBody>
      </p:sp>
      <p:sp>
        <p:nvSpPr>
          <p:cNvPr id="42" name="Shape 35"/>
          <p:cNvSpPr/>
          <p:nvPr/>
        </p:nvSpPr>
        <p:spPr>
          <a:xfrm>
            <a:off x="5660136" y="2583180"/>
            <a:ext cx="0" cy="777240"/>
          </a:xfrm>
          <a:prstGeom prst="line">
            <a:avLst/>
          </a:prstGeom>
          <a:noFill/>
          <a:ln w="22225">
            <a:solidFill>
              <a:srgbClr val="5B6774"/>
            </a:solidFill>
            <a:prstDash val="solid"/>
            <a:tailEnd type="none"/>
          </a:ln>
        </p:spPr>
      </p:sp>
      <p:sp>
        <p:nvSpPr>
          <p:cNvPr id="43" name="Shape 36"/>
          <p:cNvSpPr/>
          <p:nvPr/>
        </p:nvSpPr>
        <p:spPr>
          <a:xfrm>
            <a:off x="5660136" y="4137660"/>
            <a:ext cx="0" cy="-777240"/>
          </a:xfrm>
          <a:prstGeom prst="line">
            <a:avLst/>
          </a:prstGeom>
          <a:noFill/>
          <a:ln w="22225">
            <a:solidFill>
              <a:srgbClr val="5B6774"/>
            </a:solidFill>
            <a:prstDash val="solid"/>
            <a:tailEnd type="none"/>
          </a:ln>
        </p:spPr>
      </p:sp>
      <p:sp>
        <p:nvSpPr>
          <p:cNvPr id="44" name="Shape 37"/>
          <p:cNvSpPr/>
          <p:nvPr/>
        </p:nvSpPr>
        <p:spPr>
          <a:xfrm>
            <a:off x="5660136" y="2583180"/>
            <a:ext cx="265176" cy="0"/>
          </a:xfrm>
          <a:prstGeom prst="line">
            <a:avLst/>
          </a:prstGeom>
          <a:noFill/>
          <a:ln w="22225">
            <a:solidFill>
              <a:srgbClr val="5B6774"/>
            </a:solidFill>
            <a:prstDash val="solid"/>
            <a:tailEnd type="triangle"/>
          </a:ln>
        </p:spPr>
      </p:sp>
      <p:sp>
        <p:nvSpPr>
          <p:cNvPr id="45" name="Shape 38"/>
          <p:cNvSpPr/>
          <p:nvPr/>
        </p:nvSpPr>
        <p:spPr>
          <a:xfrm>
            <a:off x="5660136" y="4137660"/>
            <a:ext cx="264262" cy="0"/>
          </a:xfrm>
          <a:prstGeom prst="line">
            <a:avLst/>
          </a:prstGeom>
          <a:noFill/>
          <a:ln w="22225">
            <a:solidFill>
              <a:srgbClr val="5B6774"/>
            </a:solidFill>
            <a:prstDash val="solid"/>
            <a:tailEnd type="triangle"/>
          </a:ln>
        </p:spPr>
      </p:sp>
      <p:sp>
        <p:nvSpPr>
          <p:cNvPr id="46" name="Shape 39"/>
          <p:cNvSpPr/>
          <p:nvPr/>
        </p:nvSpPr>
        <p:spPr>
          <a:xfrm>
            <a:off x="7717536" y="2743200"/>
            <a:ext cx="1481328" cy="1234440"/>
          </a:xfrm>
          <a:prstGeom prst="roundRect">
            <a:avLst>
              <a:gd name="adj" fmla="val 7407"/>
            </a:avLst>
          </a:prstGeom>
          <a:solidFill>
            <a:srgbClr val="D97C2B"/>
          </a:solidFill>
          <a:ln/>
          <a:effectLst>
            <a:outerShdw sx="100000" sy="100000" kx="0" ky="0" algn="bl" rotWithShape="0" blurRad="76200" dist="25400" dir="5400000">
              <a:srgbClr val="9AA7B4">
                <a:alpha val="28000"/>
              </a:srgbClr>
            </a:outerShdw>
          </a:effectLst>
        </p:spPr>
      </p:sp>
      <p:pic>
        <p:nvPicPr>
          <p:cNvPr id="47" name="Image 5" descr="/home/claude/output2/icons/anfis.png">    </p:cNvPr>
          <p:cNvPicPr>
            <a:picLocks noChangeAspect="1"/>
          </p:cNvPicPr>
          <p:nvPr/>
        </p:nvPicPr>
        <p:blipFill>
          <a:blip r:embed="rId6"/>
          <a:stretch>
            <a:fillRect/>
          </a:stretch>
        </p:blipFill>
        <p:spPr>
          <a:xfrm>
            <a:off x="8220456" y="2871216"/>
            <a:ext cx="475488" cy="475488"/>
          </a:xfrm>
          <a:prstGeom prst="rect">
            <a:avLst/>
          </a:prstGeom>
        </p:spPr>
      </p:pic>
      <p:sp>
        <p:nvSpPr>
          <p:cNvPr id="48" name="Text 40"/>
          <p:cNvSpPr/>
          <p:nvPr/>
        </p:nvSpPr>
        <p:spPr>
          <a:xfrm>
            <a:off x="7790688" y="338328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ANFIS</a:t>
            </a:r>
            <a:endParaRPr lang="en-US" sz="1150" dirty="0"/>
          </a:p>
        </p:txBody>
      </p:sp>
      <p:sp>
        <p:nvSpPr>
          <p:cNvPr id="49" name="Text 41"/>
          <p:cNvSpPr/>
          <p:nvPr/>
        </p:nvSpPr>
        <p:spPr>
          <a:xfrm>
            <a:off x="7790688" y="368503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chấm điểm 0–100</a:t>
            </a:r>
            <a:endParaRPr lang="en-US" sz="900" dirty="0"/>
          </a:p>
        </p:txBody>
      </p:sp>
      <p:sp>
        <p:nvSpPr>
          <p:cNvPr id="50" name="Shape 42"/>
          <p:cNvSpPr/>
          <p:nvPr/>
        </p:nvSpPr>
        <p:spPr>
          <a:xfrm>
            <a:off x="7452360" y="3360420"/>
            <a:ext cx="219456" cy="0"/>
          </a:xfrm>
          <a:prstGeom prst="line">
            <a:avLst/>
          </a:prstGeom>
          <a:noFill/>
          <a:ln w="22225">
            <a:solidFill>
              <a:srgbClr val="5B6774"/>
            </a:solidFill>
            <a:prstDash val="solid"/>
            <a:tailEnd type="triangle"/>
          </a:ln>
        </p:spPr>
      </p:sp>
      <p:sp>
        <p:nvSpPr>
          <p:cNvPr id="51" name="Shape 43"/>
          <p:cNvSpPr/>
          <p:nvPr/>
        </p:nvSpPr>
        <p:spPr>
          <a:xfrm>
            <a:off x="9509760" y="2743200"/>
            <a:ext cx="1481328" cy="1234440"/>
          </a:xfrm>
          <a:prstGeom prst="roundRect">
            <a:avLst>
              <a:gd name="adj" fmla="val 7407"/>
            </a:avLst>
          </a:prstGeom>
          <a:solidFill>
            <a:srgbClr val="1C7293"/>
          </a:solidFill>
          <a:ln/>
          <a:effectLst>
            <a:outerShdw sx="100000" sy="100000" kx="0" ky="0" algn="bl" rotWithShape="0" blurRad="76200" dist="25400" dir="5400000">
              <a:srgbClr val="9AA7B4">
                <a:alpha val="28000"/>
              </a:srgbClr>
            </a:outerShdw>
          </a:effectLst>
        </p:spPr>
      </p:sp>
      <p:pic>
        <p:nvPicPr>
          <p:cNvPr id="52" name="Image 6" descr="/home/claude/output2/icons/report.png">    </p:cNvPr>
          <p:cNvPicPr>
            <a:picLocks noChangeAspect="1"/>
          </p:cNvPicPr>
          <p:nvPr/>
        </p:nvPicPr>
        <p:blipFill>
          <a:blip r:embed="rId7"/>
          <a:stretch>
            <a:fillRect/>
          </a:stretch>
        </p:blipFill>
        <p:spPr>
          <a:xfrm>
            <a:off x="10012680" y="2871216"/>
            <a:ext cx="475488" cy="475488"/>
          </a:xfrm>
          <a:prstGeom prst="rect">
            <a:avLst/>
          </a:prstGeom>
        </p:spPr>
      </p:pic>
      <p:sp>
        <p:nvSpPr>
          <p:cNvPr id="53" name="Text 44"/>
          <p:cNvSpPr/>
          <p:nvPr/>
        </p:nvSpPr>
        <p:spPr>
          <a:xfrm>
            <a:off x="9582912" y="3383280"/>
            <a:ext cx="1335024"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Kết quả</a:t>
            </a:r>
            <a:endParaRPr lang="en-US" sz="1150" dirty="0"/>
          </a:p>
        </p:txBody>
      </p:sp>
      <p:sp>
        <p:nvSpPr>
          <p:cNvPr id="54" name="Text 45"/>
          <p:cNvSpPr/>
          <p:nvPr/>
        </p:nvSpPr>
        <p:spPr>
          <a:xfrm>
            <a:off x="9582912" y="3685032"/>
            <a:ext cx="1335024" cy="274320"/>
          </a:xfrm>
          <a:prstGeom prst="rect">
            <a:avLst/>
          </a:prstGeom>
          <a:noFill/>
          <a:ln/>
        </p:spPr>
        <p:txBody>
          <a:bodyPr wrap="square" rtlCol="0" anchor="ctr"/>
          <a:lstStyle/>
          <a:p>
            <a:pPr algn="ctr" indent="0" marL="0">
              <a:buNone/>
            </a:pPr>
            <a:r>
              <a:rPr lang="en-US" sz="900" dirty="0">
                <a:solidFill>
                  <a:srgbClr val="E7EEF3"/>
                </a:solidFill>
                <a:latin typeface="Calibri" pitchFamily="34" charset="0"/>
                <a:ea typeface="Calibri" pitchFamily="34" charset="-122"/>
                <a:cs typeface="Calibri" pitchFamily="34" charset="-120"/>
              </a:rPr>
              <a:t>score + risk_level</a:t>
            </a:r>
            <a:endParaRPr lang="en-US" sz="900" dirty="0"/>
          </a:p>
        </p:txBody>
      </p:sp>
      <p:sp>
        <p:nvSpPr>
          <p:cNvPr id="55" name="Shape 46"/>
          <p:cNvSpPr/>
          <p:nvPr/>
        </p:nvSpPr>
        <p:spPr>
          <a:xfrm>
            <a:off x="9244584" y="3360420"/>
            <a:ext cx="219456" cy="0"/>
          </a:xfrm>
          <a:prstGeom prst="line">
            <a:avLst/>
          </a:prstGeom>
          <a:noFill/>
          <a:ln w="22225">
            <a:solidFill>
              <a:srgbClr val="5B6774"/>
            </a:solidFill>
            <a:prstDash val="solid"/>
            <a:tailEnd type="triangle"/>
          </a:ln>
        </p:spPr>
      </p:sp>
      <p:sp>
        <p:nvSpPr>
          <p:cNvPr id="56" name="Text 47"/>
          <p:cNvSpPr/>
          <p:nvPr/>
        </p:nvSpPr>
        <p:spPr>
          <a:xfrm>
            <a:off x="548640" y="5532120"/>
            <a:ext cx="11094415" cy="548640"/>
          </a:xfrm>
          <a:prstGeom prst="rect">
            <a:avLst/>
          </a:prstGeom>
          <a:noFill/>
          <a:ln/>
        </p:spPr>
        <p:txBody>
          <a:bodyPr wrap="square" rtlCol="0" anchor="ctr"/>
          <a:lstStyle/>
          <a:p>
            <a:pPr algn="ctr" indent="0" marL="0">
              <a:buNone/>
            </a:pPr>
            <a:r>
              <a:rPr lang="en-US" sz="1300" i="1" dirty="0">
                <a:solidFill>
                  <a:srgbClr val="5B6774"/>
                </a:solidFill>
                <a:latin typeface="Calibri" pitchFamily="34" charset="0"/>
                <a:ea typeface="Calibri" pitchFamily="34" charset="-122"/>
                <a:cs typeface="Calibri" pitchFamily="34" charset="-120"/>
              </a:rPr>
              <a:t>Toàn bộ quy trình chạy trong vài giây. Kết quả trả về Spring Boot gồm: ảnh đã khoanh vùng, điểm rủi ro (score), mức độ (risk_level) và mô tả gợi ý — bác sĩ xem và ra kết luận cuối cùng.</a:t>
            </a:r>
            <a:endParaRPr lang="en-US" sz="1300" dirty="0"/>
          </a:p>
        </p:txBody>
      </p:sp>
      <p:sp>
        <p:nvSpPr>
          <p:cNvPr id="57" name="Text 48"/>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58" name="Text 49"/>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THIẾT KẾ HỆ THỐNG</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Thiết kế Actor — 5 vai trò</a:t>
            </a:r>
            <a:endParaRPr lang="en-US" sz="3000" dirty="0"/>
          </a:p>
        </p:txBody>
      </p:sp>
      <p:sp>
        <p:nvSpPr>
          <p:cNvPr id="4" name="Shape 2"/>
          <p:cNvSpPr/>
          <p:nvPr/>
        </p:nvSpPr>
        <p:spPr>
          <a:xfrm>
            <a:off x="548640" y="1965960"/>
            <a:ext cx="1962851" cy="4114800"/>
          </a:xfrm>
          <a:prstGeom prst="roundRect">
            <a:avLst>
              <a:gd name="adj" fmla="val 4193"/>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5" name="Shape 3"/>
          <p:cNvSpPr/>
          <p:nvPr/>
        </p:nvSpPr>
        <p:spPr>
          <a:xfrm>
            <a:off x="1050006" y="2354580"/>
            <a:ext cx="960120" cy="960120"/>
          </a:xfrm>
          <a:prstGeom prst="ellipse">
            <a:avLst/>
          </a:prstGeom>
          <a:solidFill>
            <a:srgbClr val="12395C"/>
          </a:solidFill>
          <a:ln/>
        </p:spPr>
      </p:sp>
      <p:pic>
        <p:nvPicPr>
          <p:cNvPr id="6" name="Image 0" descr="/home/claude/output2/icons/patient.png">    </p:cNvPr>
          <p:cNvPicPr>
            <a:picLocks noChangeAspect="1"/>
          </p:cNvPicPr>
          <p:nvPr/>
        </p:nvPicPr>
        <p:blipFill>
          <a:blip r:embed="rId1"/>
          <a:stretch>
            <a:fillRect/>
          </a:stretch>
        </p:blipFill>
        <p:spPr>
          <a:xfrm>
            <a:off x="1290036" y="2594610"/>
            <a:ext cx="480060" cy="480060"/>
          </a:xfrm>
          <a:prstGeom prst="rect">
            <a:avLst/>
          </a:prstGeom>
        </p:spPr>
      </p:pic>
      <p:sp>
        <p:nvSpPr>
          <p:cNvPr id="7" name="Text 4"/>
          <p:cNvSpPr/>
          <p:nvPr/>
        </p:nvSpPr>
        <p:spPr>
          <a:xfrm>
            <a:off x="640080" y="3474720"/>
            <a:ext cx="1779971" cy="365760"/>
          </a:xfrm>
          <a:prstGeom prst="rect">
            <a:avLst/>
          </a:prstGeom>
          <a:noFill/>
          <a:ln/>
        </p:spPr>
        <p:txBody>
          <a:bodyPr wrap="square" rtlCol="0" anchor="ctr"/>
          <a:lstStyle/>
          <a:p>
            <a:pPr algn="ctr" indent="0" marL="0">
              <a:buNone/>
            </a:pPr>
            <a:r>
              <a:rPr lang="en-US" sz="1550" b="1" dirty="0">
                <a:solidFill>
                  <a:srgbClr val="12395C"/>
                </a:solidFill>
                <a:latin typeface="Cambria" pitchFamily="34" charset="0"/>
                <a:ea typeface="Cambria" pitchFamily="34" charset="-122"/>
                <a:cs typeface="Cambria" pitchFamily="34" charset="-120"/>
              </a:rPr>
              <a:t>Bệnh nhân</a:t>
            </a:r>
            <a:endParaRPr lang="en-US" sz="1550" dirty="0"/>
          </a:p>
        </p:txBody>
      </p:sp>
      <p:sp>
        <p:nvSpPr>
          <p:cNvPr id="8" name="Text 5"/>
          <p:cNvSpPr/>
          <p:nvPr/>
        </p:nvSpPr>
        <p:spPr>
          <a:xfrm>
            <a:off x="640080" y="3813048"/>
            <a:ext cx="1779971" cy="256032"/>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Patient</a:t>
            </a:r>
            <a:endParaRPr lang="en-US" sz="1000" dirty="0"/>
          </a:p>
        </p:txBody>
      </p:sp>
      <p:sp>
        <p:nvSpPr>
          <p:cNvPr id="9" name="Text 6"/>
          <p:cNvSpPr/>
          <p:nvPr/>
        </p:nvSpPr>
        <p:spPr>
          <a:xfrm>
            <a:off x="713232" y="4206240"/>
            <a:ext cx="1633667" cy="1737360"/>
          </a:xfrm>
          <a:prstGeom prst="rect">
            <a:avLst/>
          </a:prstGeom>
          <a:noFill/>
          <a:ln/>
        </p:spPr>
        <p:txBody>
          <a:bodyPr wrap="square" rtlCol="0" anchor="t"/>
          <a:lstStyle/>
          <a:p>
            <a:pPr algn="ctr" indent="0" marL="0">
              <a:buNone/>
            </a:pPr>
            <a:r>
              <a:rPr lang="en-US" sz="1100" dirty="0">
                <a:solidFill>
                  <a:srgbClr val="16212E"/>
                </a:solidFill>
                <a:latin typeface="Calibri" pitchFamily="34" charset="0"/>
                <a:ea typeface="Calibri" pitchFamily="34" charset="-122"/>
                <a:cs typeface="Calibri" pitchFamily="34" charset="-120"/>
              </a:rPr>
              <a:t>Đặt lịch khám, tự tải X-quang kiểm tra nhanh, xem kết quả &amp; hồ sơ.</a:t>
            </a:r>
            <a:endParaRPr lang="en-US" sz="1100" dirty="0"/>
          </a:p>
        </p:txBody>
      </p:sp>
      <p:sp>
        <p:nvSpPr>
          <p:cNvPr id="10" name="Shape 7"/>
          <p:cNvSpPr/>
          <p:nvPr/>
        </p:nvSpPr>
        <p:spPr>
          <a:xfrm>
            <a:off x="2831531" y="1965960"/>
            <a:ext cx="1962851" cy="4114800"/>
          </a:xfrm>
          <a:prstGeom prst="roundRect">
            <a:avLst>
              <a:gd name="adj" fmla="val 4193"/>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1" name="Shape 8"/>
          <p:cNvSpPr/>
          <p:nvPr/>
        </p:nvSpPr>
        <p:spPr>
          <a:xfrm>
            <a:off x="3332897" y="2354580"/>
            <a:ext cx="960120" cy="960120"/>
          </a:xfrm>
          <a:prstGeom prst="ellipse">
            <a:avLst/>
          </a:prstGeom>
          <a:solidFill>
            <a:srgbClr val="1C7293"/>
          </a:solidFill>
          <a:ln/>
        </p:spPr>
      </p:sp>
      <p:pic>
        <p:nvPicPr>
          <p:cNvPr id="12" name="Image 1" descr="/home/claude/output2/icons/receptionist.png">    </p:cNvPr>
          <p:cNvPicPr>
            <a:picLocks noChangeAspect="1"/>
          </p:cNvPicPr>
          <p:nvPr/>
        </p:nvPicPr>
        <p:blipFill>
          <a:blip r:embed="rId2"/>
          <a:stretch>
            <a:fillRect/>
          </a:stretch>
        </p:blipFill>
        <p:spPr>
          <a:xfrm>
            <a:off x="3572927" y="2594610"/>
            <a:ext cx="480060" cy="480060"/>
          </a:xfrm>
          <a:prstGeom prst="rect">
            <a:avLst/>
          </a:prstGeom>
        </p:spPr>
      </p:pic>
      <p:sp>
        <p:nvSpPr>
          <p:cNvPr id="13" name="Text 9"/>
          <p:cNvSpPr/>
          <p:nvPr/>
        </p:nvSpPr>
        <p:spPr>
          <a:xfrm>
            <a:off x="2922971" y="3474720"/>
            <a:ext cx="1779971" cy="365760"/>
          </a:xfrm>
          <a:prstGeom prst="rect">
            <a:avLst/>
          </a:prstGeom>
          <a:noFill/>
          <a:ln/>
        </p:spPr>
        <p:txBody>
          <a:bodyPr wrap="square" rtlCol="0" anchor="ctr"/>
          <a:lstStyle/>
          <a:p>
            <a:pPr algn="ctr" indent="0" marL="0">
              <a:buNone/>
            </a:pPr>
            <a:r>
              <a:rPr lang="en-US" sz="1550" b="1" dirty="0">
                <a:solidFill>
                  <a:srgbClr val="12395C"/>
                </a:solidFill>
                <a:latin typeface="Cambria" pitchFamily="34" charset="0"/>
                <a:ea typeface="Cambria" pitchFamily="34" charset="-122"/>
                <a:cs typeface="Cambria" pitchFamily="34" charset="-120"/>
              </a:rPr>
              <a:t>Lễ tân</a:t>
            </a:r>
            <a:endParaRPr lang="en-US" sz="1550" dirty="0"/>
          </a:p>
        </p:txBody>
      </p:sp>
      <p:sp>
        <p:nvSpPr>
          <p:cNvPr id="14" name="Text 10"/>
          <p:cNvSpPr/>
          <p:nvPr/>
        </p:nvSpPr>
        <p:spPr>
          <a:xfrm>
            <a:off x="2922971" y="3813048"/>
            <a:ext cx="1779971" cy="256032"/>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Receptionist</a:t>
            </a:r>
            <a:endParaRPr lang="en-US" sz="1000" dirty="0"/>
          </a:p>
        </p:txBody>
      </p:sp>
      <p:sp>
        <p:nvSpPr>
          <p:cNvPr id="15" name="Text 11"/>
          <p:cNvSpPr/>
          <p:nvPr/>
        </p:nvSpPr>
        <p:spPr>
          <a:xfrm>
            <a:off x="2996123" y="4206240"/>
            <a:ext cx="1633667" cy="1737360"/>
          </a:xfrm>
          <a:prstGeom prst="rect">
            <a:avLst/>
          </a:prstGeom>
          <a:noFill/>
          <a:ln/>
        </p:spPr>
        <p:txBody>
          <a:bodyPr wrap="square" rtlCol="0" anchor="t"/>
          <a:lstStyle/>
          <a:p>
            <a:pPr algn="ctr" indent="0" marL="0">
              <a:buNone/>
            </a:pPr>
            <a:r>
              <a:rPr lang="en-US" sz="1100" dirty="0">
                <a:solidFill>
                  <a:srgbClr val="16212E"/>
                </a:solidFill>
                <a:latin typeface="Calibri" pitchFamily="34" charset="0"/>
                <a:ea typeface="Calibri" pitchFamily="34" charset="-122"/>
                <a:cs typeface="Calibri" pitchFamily="34" charset="-120"/>
              </a:rPr>
              <a:t>Quản lý lịch hẹn, check-in, gọi số khám, tiếp nhận khách vãng lai.</a:t>
            </a:r>
            <a:endParaRPr lang="en-US" sz="1100" dirty="0"/>
          </a:p>
        </p:txBody>
      </p:sp>
      <p:sp>
        <p:nvSpPr>
          <p:cNvPr id="16" name="Shape 12"/>
          <p:cNvSpPr/>
          <p:nvPr/>
        </p:nvSpPr>
        <p:spPr>
          <a:xfrm>
            <a:off x="5114422" y="1965960"/>
            <a:ext cx="1962851" cy="4114800"/>
          </a:xfrm>
          <a:prstGeom prst="roundRect">
            <a:avLst>
              <a:gd name="adj" fmla="val 4193"/>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7" name="Shape 13"/>
          <p:cNvSpPr/>
          <p:nvPr/>
        </p:nvSpPr>
        <p:spPr>
          <a:xfrm>
            <a:off x="5615788" y="2354580"/>
            <a:ext cx="960120" cy="960120"/>
          </a:xfrm>
          <a:prstGeom prst="ellipse">
            <a:avLst/>
          </a:prstGeom>
          <a:solidFill>
            <a:srgbClr val="D97C2B"/>
          </a:solidFill>
          <a:ln/>
        </p:spPr>
      </p:sp>
      <p:pic>
        <p:nvPicPr>
          <p:cNvPr id="18" name="Image 2" descr="/home/claude/output2/icons/technician.png">    </p:cNvPr>
          <p:cNvPicPr>
            <a:picLocks noChangeAspect="1"/>
          </p:cNvPicPr>
          <p:nvPr/>
        </p:nvPicPr>
        <p:blipFill>
          <a:blip r:embed="rId3"/>
          <a:stretch>
            <a:fillRect/>
          </a:stretch>
        </p:blipFill>
        <p:spPr>
          <a:xfrm>
            <a:off x="5855818" y="2594610"/>
            <a:ext cx="480060" cy="480060"/>
          </a:xfrm>
          <a:prstGeom prst="rect">
            <a:avLst/>
          </a:prstGeom>
        </p:spPr>
      </p:pic>
      <p:sp>
        <p:nvSpPr>
          <p:cNvPr id="19" name="Text 14"/>
          <p:cNvSpPr/>
          <p:nvPr/>
        </p:nvSpPr>
        <p:spPr>
          <a:xfrm>
            <a:off x="5205862" y="3474720"/>
            <a:ext cx="1779971" cy="365760"/>
          </a:xfrm>
          <a:prstGeom prst="rect">
            <a:avLst/>
          </a:prstGeom>
          <a:noFill/>
          <a:ln/>
        </p:spPr>
        <p:txBody>
          <a:bodyPr wrap="square" rtlCol="0" anchor="ctr"/>
          <a:lstStyle/>
          <a:p>
            <a:pPr algn="ctr" indent="0" marL="0">
              <a:buNone/>
            </a:pPr>
            <a:r>
              <a:rPr lang="en-US" sz="1550" b="1" dirty="0">
                <a:solidFill>
                  <a:srgbClr val="12395C"/>
                </a:solidFill>
                <a:latin typeface="Cambria" pitchFamily="34" charset="0"/>
                <a:ea typeface="Cambria" pitchFamily="34" charset="-122"/>
                <a:cs typeface="Cambria" pitchFamily="34" charset="-120"/>
              </a:rPr>
              <a:t>Kỹ thuật viên</a:t>
            </a:r>
            <a:endParaRPr lang="en-US" sz="1550" dirty="0"/>
          </a:p>
        </p:txBody>
      </p:sp>
      <p:sp>
        <p:nvSpPr>
          <p:cNvPr id="20" name="Text 15"/>
          <p:cNvSpPr/>
          <p:nvPr/>
        </p:nvSpPr>
        <p:spPr>
          <a:xfrm>
            <a:off x="5205862" y="3813048"/>
            <a:ext cx="1779971" cy="256032"/>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Technician</a:t>
            </a:r>
            <a:endParaRPr lang="en-US" sz="1000" dirty="0"/>
          </a:p>
        </p:txBody>
      </p:sp>
      <p:sp>
        <p:nvSpPr>
          <p:cNvPr id="21" name="Text 16"/>
          <p:cNvSpPr/>
          <p:nvPr/>
        </p:nvSpPr>
        <p:spPr>
          <a:xfrm>
            <a:off x="5279014" y="4206240"/>
            <a:ext cx="1633667" cy="1737360"/>
          </a:xfrm>
          <a:prstGeom prst="rect">
            <a:avLst/>
          </a:prstGeom>
          <a:noFill/>
          <a:ln/>
        </p:spPr>
        <p:txBody>
          <a:bodyPr wrap="square" rtlCol="0" anchor="t"/>
          <a:lstStyle/>
          <a:p>
            <a:pPr algn="ctr" indent="0" marL="0">
              <a:buNone/>
            </a:pPr>
            <a:r>
              <a:rPr lang="en-US" sz="1100" dirty="0">
                <a:solidFill>
                  <a:srgbClr val="16212E"/>
                </a:solidFill>
                <a:latin typeface="Calibri" pitchFamily="34" charset="0"/>
                <a:ea typeface="Calibri" pitchFamily="34" charset="-122"/>
                <a:cs typeface="Calibri" pitchFamily="34" charset="-120"/>
              </a:rPr>
              <a:t>Chụp &amp; tải ảnh X-quang, gửi ảnh cho AI Service phân tích.</a:t>
            </a:r>
            <a:endParaRPr lang="en-US" sz="1100" dirty="0"/>
          </a:p>
        </p:txBody>
      </p:sp>
      <p:sp>
        <p:nvSpPr>
          <p:cNvPr id="22" name="Shape 17"/>
          <p:cNvSpPr/>
          <p:nvPr/>
        </p:nvSpPr>
        <p:spPr>
          <a:xfrm>
            <a:off x="7397313" y="1965960"/>
            <a:ext cx="1962851" cy="4114800"/>
          </a:xfrm>
          <a:prstGeom prst="roundRect">
            <a:avLst>
              <a:gd name="adj" fmla="val 4193"/>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23" name="Shape 18"/>
          <p:cNvSpPr/>
          <p:nvPr/>
        </p:nvSpPr>
        <p:spPr>
          <a:xfrm>
            <a:off x="7898679" y="2354580"/>
            <a:ext cx="960120" cy="960120"/>
          </a:xfrm>
          <a:prstGeom prst="ellipse">
            <a:avLst/>
          </a:prstGeom>
          <a:solidFill>
            <a:srgbClr val="12395C"/>
          </a:solidFill>
          <a:ln/>
        </p:spPr>
      </p:sp>
      <p:pic>
        <p:nvPicPr>
          <p:cNvPr id="24" name="Image 3" descr="/home/claude/output2/icons/doctor.png">    </p:cNvPr>
          <p:cNvPicPr>
            <a:picLocks noChangeAspect="1"/>
          </p:cNvPicPr>
          <p:nvPr/>
        </p:nvPicPr>
        <p:blipFill>
          <a:blip r:embed="rId4"/>
          <a:stretch>
            <a:fillRect/>
          </a:stretch>
        </p:blipFill>
        <p:spPr>
          <a:xfrm>
            <a:off x="8138709" y="2594610"/>
            <a:ext cx="480060" cy="480060"/>
          </a:xfrm>
          <a:prstGeom prst="rect">
            <a:avLst/>
          </a:prstGeom>
        </p:spPr>
      </p:pic>
      <p:sp>
        <p:nvSpPr>
          <p:cNvPr id="25" name="Text 19"/>
          <p:cNvSpPr/>
          <p:nvPr/>
        </p:nvSpPr>
        <p:spPr>
          <a:xfrm>
            <a:off x="7488753" y="3474720"/>
            <a:ext cx="1779971" cy="365760"/>
          </a:xfrm>
          <a:prstGeom prst="rect">
            <a:avLst/>
          </a:prstGeom>
          <a:noFill/>
          <a:ln/>
        </p:spPr>
        <p:txBody>
          <a:bodyPr wrap="square" rtlCol="0" anchor="ctr"/>
          <a:lstStyle/>
          <a:p>
            <a:pPr algn="ctr" indent="0" marL="0">
              <a:buNone/>
            </a:pPr>
            <a:r>
              <a:rPr lang="en-US" sz="1550" b="1" dirty="0">
                <a:solidFill>
                  <a:srgbClr val="12395C"/>
                </a:solidFill>
                <a:latin typeface="Cambria" pitchFamily="34" charset="0"/>
                <a:ea typeface="Cambria" pitchFamily="34" charset="-122"/>
                <a:cs typeface="Cambria" pitchFamily="34" charset="-120"/>
              </a:rPr>
              <a:t>Bác sĩ</a:t>
            </a:r>
            <a:endParaRPr lang="en-US" sz="1550" dirty="0"/>
          </a:p>
        </p:txBody>
      </p:sp>
      <p:sp>
        <p:nvSpPr>
          <p:cNvPr id="26" name="Text 20"/>
          <p:cNvSpPr/>
          <p:nvPr/>
        </p:nvSpPr>
        <p:spPr>
          <a:xfrm>
            <a:off x="7488753" y="3813048"/>
            <a:ext cx="1779971" cy="256032"/>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Doctor</a:t>
            </a:r>
            <a:endParaRPr lang="en-US" sz="1000" dirty="0"/>
          </a:p>
        </p:txBody>
      </p:sp>
      <p:sp>
        <p:nvSpPr>
          <p:cNvPr id="27" name="Text 21"/>
          <p:cNvSpPr/>
          <p:nvPr/>
        </p:nvSpPr>
        <p:spPr>
          <a:xfrm>
            <a:off x="7561905" y="4206240"/>
            <a:ext cx="1633667" cy="1737360"/>
          </a:xfrm>
          <a:prstGeom prst="rect">
            <a:avLst/>
          </a:prstGeom>
          <a:noFill/>
          <a:ln/>
        </p:spPr>
        <p:txBody>
          <a:bodyPr wrap="square" rtlCol="0" anchor="t"/>
          <a:lstStyle/>
          <a:p>
            <a:pPr algn="ctr" indent="0" marL="0">
              <a:buNone/>
            </a:pPr>
            <a:r>
              <a:rPr lang="en-US" sz="1100" dirty="0">
                <a:solidFill>
                  <a:srgbClr val="16212E"/>
                </a:solidFill>
                <a:latin typeface="Calibri" pitchFamily="34" charset="0"/>
                <a:ea typeface="Calibri" pitchFamily="34" charset="-122"/>
                <a:cs typeface="Calibri" pitchFamily="34" charset="-120"/>
              </a:rPr>
              <a:t>Duyệt kết quả AI, ghi kết luận chẩn đoán cuối cùng.</a:t>
            </a:r>
            <a:endParaRPr lang="en-US" sz="1100" dirty="0"/>
          </a:p>
        </p:txBody>
      </p:sp>
      <p:sp>
        <p:nvSpPr>
          <p:cNvPr id="28" name="Shape 22"/>
          <p:cNvSpPr/>
          <p:nvPr/>
        </p:nvSpPr>
        <p:spPr>
          <a:xfrm>
            <a:off x="9680204" y="1965960"/>
            <a:ext cx="1962851" cy="4114800"/>
          </a:xfrm>
          <a:prstGeom prst="roundRect">
            <a:avLst>
              <a:gd name="adj" fmla="val 4193"/>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29" name="Shape 23"/>
          <p:cNvSpPr/>
          <p:nvPr/>
        </p:nvSpPr>
        <p:spPr>
          <a:xfrm>
            <a:off x="10181570" y="2354580"/>
            <a:ext cx="960120" cy="960120"/>
          </a:xfrm>
          <a:prstGeom prst="ellipse">
            <a:avLst/>
          </a:prstGeom>
          <a:solidFill>
            <a:srgbClr val="1C7293"/>
          </a:solidFill>
          <a:ln/>
        </p:spPr>
      </p:sp>
      <p:pic>
        <p:nvPicPr>
          <p:cNvPr id="30" name="Image 4" descr="/home/claude/output2/icons/admin.png">    </p:cNvPr>
          <p:cNvPicPr>
            <a:picLocks noChangeAspect="1"/>
          </p:cNvPicPr>
          <p:nvPr/>
        </p:nvPicPr>
        <p:blipFill>
          <a:blip r:embed="rId5"/>
          <a:stretch>
            <a:fillRect/>
          </a:stretch>
        </p:blipFill>
        <p:spPr>
          <a:xfrm>
            <a:off x="10421600" y="2594610"/>
            <a:ext cx="480060" cy="480060"/>
          </a:xfrm>
          <a:prstGeom prst="rect">
            <a:avLst/>
          </a:prstGeom>
        </p:spPr>
      </p:pic>
      <p:sp>
        <p:nvSpPr>
          <p:cNvPr id="31" name="Text 24"/>
          <p:cNvSpPr/>
          <p:nvPr/>
        </p:nvSpPr>
        <p:spPr>
          <a:xfrm>
            <a:off x="9771644" y="3474720"/>
            <a:ext cx="1779971" cy="365760"/>
          </a:xfrm>
          <a:prstGeom prst="rect">
            <a:avLst/>
          </a:prstGeom>
          <a:noFill/>
          <a:ln/>
        </p:spPr>
        <p:txBody>
          <a:bodyPr wrap="square" rtlCol="0" anchor="ctr"/>
          <a:lstStyle/>
          <a:p>
            <a:pPr algn="ctr" indent="0" marL="0">
              <a:buNone/>
            </a:pPr>
            <a:r>
              <a:rPr lang="en-US" sz="1550" b="1" dirty="0">
                <a:solidFill>
                  <a:srgbClr val="12395C"/>
                </a:solidFill>
                <a:latin typeface="Cambria" pitchFamily="34" charset="0"/>
                <a:ea typeface="Cambria" pitchFamily="34" charset="-122"/>
                <a:cs typeface="Cambria" pitchFamily="34" charset="-120"/>
              </a:rPr>
              <a:t>Quản trị viên</a:t>
            </a:r>
            <a:endParaRPr lang="en-US" sz="1550" dirty="0"/>
          </a:p>
        </p:txBody>
      </p:sp>
      <p:sp>
        <p:nvSpPr>
          <p:cNvPr id="32" name="Text 25"/>
          <p:cNvSpPr/>
          <p:nvPr/>
        </p:nvSpPr>
        <p:spPr>
          <a:xfrm>
            <a:off x="9771644" y="3813048"/>
            <a:ext cx="1779971" cy="256032"/>
          </a:xfrm>
          <a:prstGeom prst="rect">
            <a:avLst/>
          </a:prstGeom>
          <a:noFill/>
          <a:ln/>
        </p:spPr>
        <p:txBody>
          <a:bodyPr wrap="square" rtlCol="0" anchor="ctr"/>
          <a:lstStyle/>
          <a:p>
            <a:pPr algn="ctr" indent="0" marL="0">
              <a:buNone/>
            </a:pPr>
            <a:r>
              <a:rPr lang="en-US" sz="1000" i="1" dirty="0">
                <a:solidFill>
                  <a:srgbClr val="5B6774"/>
                </a:solidFill>
                <a:latin typeface="Calibri" pitchFamily="34" charset="0"/>
                <a:ea typeface="Calibri" pitchFamily="34" charset="-122"/>
                <a:cs typeface="Calibri" pitchFamily="34" charset="-120"/>
              </a:rPr>
              <a:t>Admin</a:t>
            </a:r>
            <a:endParaRPr lang="en-US" sz="1000" dirty="0"/>
          </a:p>
        </p:txBody>
      </p:sp>
      <p:sp>
        <p:nvSpPr>
          <p:cNvPr id="33" name="Text 26"/>
          <p:cNvSpPr/>
          <p:nvPr/>
        </p:nvSpPr>
        <p:spPr>
          <a:xfrm>
            <a:off x="9844796" y="4206240"/>
            <a:ext cx="1633667" cy="1737360"/>
          </a:xfrm>
          <a:prstGeom prst="rect">
            <a:avLst/>
          </a:prstGeom>
          <a:noFill/>
          <a:ln/>
        </p:spPr>
        <p:txBody>
          <a:bodyPr wrap="square" rtlCol="0" anchor="t"/>
          <a:lstStyle/>
          <a:p>
            <a:pPr algn="ctr" indent="0" marL="0">
              <a:buNone/>
            </a:pPr>
            <a:r>
              <a:rPr lang="en-US" sz="1100" dirty="0">
                <a:solidFill>
                  <a:srgbClr val="16212E"/>
                </a:solidFill>
                <a:latin typeface="Calibri" pitchFamily="34" charset="0"/>
                <a:ea typeface="Calibri" pitchFamily="34" charset="-122"/>
                <a:cs typeface="Calibri" pitchFamily="34" charset="-120"/>
              </a:rPr>
              <a:t>Quản lý người dùng/vai trò, giám sát AI, cấu hình hệ thống.</a:t>
            </a:r>
            <a:endParaRPr lang="en-US" sz="1100" dirty="0"/>
          </a:p>
        </p:txBody>
      </p:sp>
      <p:sp>
        <p:nvSpPr>
          <p:cNvPr id="34" name="Text 27"/>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35" name="Text 28"/>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THIẾT KẾ HỆ THỐNG</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Sơ đồ ngữ cảnh (Context Diagram)</a:t>
            </a:r>
            <a:endParaRPr lang="en-US" sz="3000" dirty="0"/>
          </a:p>
        </p:txBody>
      </p:sp>
      <p:pic>
        <p:nvPicPr>
          <p:cNvPr id="4" name="Image 0" descr="/home/claude/diagrams/slide_context.png">    </p:cNvPr>
          <p:cNvPicPr>
            <a:picLocks noChangeAspect="1"/>
          </p:cNvPicPr>
          <p:nvPr/>
        </p:nvPicPr>
        <p:blipFill>
          <a:blip r:embed="rId1"/>
          <a:stretch>
            <a:fillRect/>
          </a:stretch>
        </p:blipFill>
        <p:spPr>
          <a:xfrm>
            <a:off x="2488540" y="1463040"/>
            <a:ext cx="7214616" cy="4983480"/>
          </a:xfrm>
          <a:prstGeom prst="rect">
            <a:avLst/>
          </a:prstGeom>
        </p:spPr>
      </p:pic>
      <p:sp>
        <p:nvSpPr>
          <p:cNvPr id="5" name="Text 2"/>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6" name="Text 3"/>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THIẾT KẾ HỆ THỐNG</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Sơ đồ Use Case tổng quan</a:t>
            </a:r>
            <a:endParaRPr lang="en-US" sz="3000" dirty="0"/>
          </a:p>
        </p:txBody>
      </p:sp>
      <p:pic>
        <p:nvPicPr>
          <p:cNvPr id="4" name="Image 0" descr="/home/claude/diagrams/slide_usecase.png">    </p:cNvPr>
          <p:cNvPicPr>
            <a:picLocks noChangeAspect="1"/>
          </p:cNvPicPr>
          <p:nvPr/>
        </p:nvPicPr>
        <p:blipFill>
          <a:blip r:embed="rId1"/>
          <a:stretch>
            <a:fillRect/>
          </a:stretch>
        </p:blipFill>
        <p:spPr>
          <a:xfrm>
            <a:off x="2246224" y="1463040"/>
            <a:ext cx="7699248" cy="4983480"/>
          </a:xfrm>
          <a:prstGeom prst="rect">
            <a:avLst/>
          </a:prstGeom>
        </p:spPr>
      </p:pic>
      <p:sp>
        <p:nvSpPr>
          <p:cNvPr id="5" name="Text 2"/>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6" name="Text 3"/>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292608"/>
          </a:xfrm>
          <a:prstGeom prst="rect">
            <a:avLst/>
          </a:prstGeom>
          <a:noFill/>
          <a:ln/>
        </p:spPr>
        <p:txBody>
          <a:bodyPr wrap="square" rtlCol="0" anchor="ctr"/>
          <a:lstStyle/>
          <a:p>
            <a:pPr indent="0" marL="0">
              <a:buNone/>
            </a:pPr>
            <a:r>
              <a:rPr lang="en-US" sz="1300" b="1" spc="200" kern="0" dirty="0">
                <a:solidFill>
                  <a:srgbClr val="D97C2B"/>
                </a:solidFill>
                <a:latin typeface="Calibri" pitchFamily="34" charset="0"/>
                <a:ea typeface="Calibri" pitchFamily="34" charset="-122"/>
                <a:cs typeface="Calibri" pitchFamily="34" charset="-120"/>
              </a:rPr>
              <a:t>KẾT LUẬN</a:t>
            </a:r>
            <a:endParaRPr lang="en-US" sz="1300" dirty="0"/>
          </a:p>
        </p:txBody>
      </p:sp>
      <p:sp>
        <p:nvSpPr>
          <p:cNvPr id="3" name="Text 1"/>
          <p:cNvSpPr/>
          <p:nvPr/>
        </p:nvSpPr>
        <p:spPr>
          <a:xfrm>
            <a:off x="548640" y="749808"/>
            <a:ext cx="11094415" cy="594360"/>
          </a:xfrm>
          <a:prstGeom prst="rect">
            <a:avLst/>
          </a:prstGeom>
          <a:noFill/>
          <a:ln/>
        </p:spPr>
        <p:txBody>
          <a:bodyPr wrap="square" rtlCol="0" anchor="ctr"/>
          <a:lstStyle/>
          <a:p>
            <a:pPr indent="0" marL="0">
              <a:buNone/>
            </a:pPr>
            <a:r>
              <a:rPr lang="en-US" sz="3000" b="1" dirty="0">
                <a:solidFill>
                  <a:srgbClr val="12395C"/>
                </a:solidFill>
                <a:latin typeface="Cambria" pitchFamily="34" charset="0"/>
                <a:ea typeface="Cambria" pitchFamily="34" charset="-122"/>
                <a:cs typeface="Cambria" pitchFamily="34" charset="-120"/>
              </a:rPr>
              <a:t>Kết quả đạt được &amp; Hướng phát triển</a:t>
            </a:r>
            <a:endParaRPr lang="en-US" sz="3000" dirty="0"/>
          </a:p>
        </p:txBody>
      </p:sp>
      <p:sp>
        <p:nvSpPr>
          <p:cNvPr id="4" name="Shape 2"/>
          <p:cNvSpPr/>
          <p:nvPr/>
        </p:nvSpPr>
        <p:spPr>
          <a:xfrm>
            <a:off x="548640" y="1828800"/>
            <a:ext cx="5318608" cy="4206240"/>
          </a:xfrm>
          <a:prstGeom prst="roundRect">
            <a:avLst>
              <a:gd name="adj" fmla="val 1957"/>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5" name="Shape 3"/>
          <p:cNvSpPr/>
          <p:nvPr/>
        </p:nvSpPr>
        <p:spPr>
          <a:xfrm>
            <a:off x="868680" y="2148840"/>
            <a:ext cx="914400" cy="914400"/>
          </a:xfrm>
          <a:prstGeom prst="ellipse">
            <a:avLst/>
          </a:prstGeom>
          <a:solidFill>
            <a:srgbClr val="1C7293"/>
          </a:solidFill>
          <a:ln/>
        </p:spPr>
      </p:sp>
      <p:pic>
        <p:nvPicPr>
          <p:cNvPr id="6" name="Image 0" descr="/home/claude/output2/icons/check.png">    </p:cNvPr>
          <p:cNvPicPr>
            <a:picLocks noChangeAspect="1"/>
          </p:cNvPicPr>
          <p:nvPr/>
        </p:nvPicPr>
        <p:blipFill>
          <a:blip r:embed="rId1"/>
          <a:stretch>
            <a:fillRect/>
          </a:stretch>
        </p:blipFill>
        <p:spPr>
          <a:xfrm>
            <a:off x="1097280" y="2377440"/>
            <a:ext cx="457200" cy="457200"/>
          </a:xfrm>
          <a:prstGeom prst="rect">
            <a:avLst/>
          </a:prstGeom>
        </p:spPr>
      </p:pic>
      <p:sp>
        <p:nvSpPr>
          <p:cNvPr id="7" name="Text 4"/>
          <p:cNvSpPr/>
          <p:nvPr/>
        </p:nvSpPr>
        <p:spPr>
          <a:xfrm>
            <a:off x="1005840" y="3200400"/>
            <a:ext cx="4404208" cy="457200"/>
          </a:xfrm>
          <a:prstGeom prst="rect">
            <a:avLst/>
          </a:prstGeom>
          <a:noFill/>
          <a:ln/>
        </p:spPr>
        <p:txBody>
          <a:bodyPr wrap="square" rtlCol="0" anchor="ctr"/>
          <a:lstStyle/>
          <a:p>
            <a:pPr algn="ctr" indent="0" marL="0">
              <a:buNone/>
            </a:pPr>
            <a:r>
              <a:rPr lang="en-US" sz="2000" b="1" dirty="0">
                <a:solidFill>
                  <a:srgbClr val="12395C"/>
                </a:solidFill>
                <a:latin typeface="Cambria" pitchFamily="34" charset="0"/>
                <a:ea typeface="Cambria" pitchFamily="34" charset="-122"/>
                <a:cs typeface="Cambria" pitchFamily="34" charset="-120"/>
              </a:rPr>
              <a:t>Đã đạt được</a:t>
            </a:r>
            <a:endParaRPr lang="en-US" sz="2000" dirty="0"/>
          </a:p>
        </p:txBody>
      </p:sp>
      <p:sp>
        <p:nvSpPr>
          <p:cNvPr id="8" name="Text 5"/>
          <p:cNvSpPr/>
          <p:nvPr/>
        </p:nvSpPr>
        <p:spPr>
          <a:xfrm>
            <a:off x="960120" y="3749040"/>
            <a:ext cx="4495648" cy="2103120"/>
          </a:xfrm>
          <a:prstGeom prst="rect">
            <a:avLst/>
          </a:prstGeom>
          <a:noFill/>
          <a:ln/>
        </p:spPr>
        <p:txBody>
          <a:bodyPr wrap="square" rtlCol="0" anchor="t"/>
          <a:lstStyle/>
          <a:p>
            <a:pPr marL="342900" indent="-342900">
              <a:spcAft>
                <a:spcPts val="1000"/>
              </a:spcAft>
              <a:buSzPct val="100000"/>
              <a:buChar char="•"/>
            </a:pPr>
            <a:r>
              <a:rPr lang="en-US" sz="1400" dirty="0">
                <a:solidFill>
                  <a:srgbClr val="16212E"/>
                </a:solidFill>
                <a:latin typeface="Calibri" pitchFamily="34" charset="0"/>
                <a:ea typeface="Calibri" pitchFamily="34" charset="-122"/>
                <a:cs typeface="Calibri" pitchFamily="34" charset="-120"/>
              </a:rPr>
              <a:t>Số hoá trọn vẹn quy trình khám: đặt lịch → tiếp nhận → chụp X-quang → chẩn đoán cho 5 vai trò.</a:t>
            </a:r>
            <a:endParaRPr lang="en-US" sz="1400" dirty="0"/>
          </a:p>
          <a:p>
            <a:pPr marL="342900" indent="-342900">
              <a:spcAft>
                <a:spcPts val="1000"/>
              </a:spcAft>
              <a:buSzPct val="100000"/>
              <a:buChar char="•"/>
            </a:pPr>
            <a:r>
              <a:rPr lang="en-US" sz="1400" dirty="0">
                <a:solidFill>
                  <a:srgbClr val="16212E"/>
                </a:solidFill>
                <a:latin typeface="Calibri" pitchFamily="34" charset="0"/>
                <a:ea typeface="Calibri" pitchFamily="34" charset="-122"/>
                <a:cs typeface="Calibri" pitchFamily="34" charset="-120"/>
              </a:rPr>
              <a:t>Pipeline AI end-to-end: YOLOv11 + Fractal + ANFIS hoạt động ổn định, có cơ chế fallback an toàn.</a:t>
            </a:r>
            <a:endParaRPr lang="en-US" sz="1400" dirty="0"/>
          </a:p>
          <a:p>
            <a:pPr marL="342900" indent="-342900">
              <a:buSzPct val="100000"/>
              <a:buChar char="•"/>
            </a:pPr>
            <a:r>
              <a:rPr lang="en-US" sz="1400" dirty="0">
                <a:solidFill>
                  <a:srgbClr val="16212E"/>
                </a:solidFill>
                <a:latin typeface="Calibri" pitchFamily="34" charset="0"/>
                <a:ea typeface="Calibri" pitchFamily="34" charset="-122"/>
                <a:cs typeface="Calibri" pitchFamily="34" charset="-120"/>
              </a:rPr>
              <a:t>Kiến trúc tách microservice (Spring Boot ⇄ FastAPI) — dễ bảo trì, dễ mở rộng.</a:t>
            </a:r>
            <a:endParaRPr lang="en-US" sz="1400" dirty="0"/>
          </a:p>
        </p:txBody>
      </p:sp>
      <p:sp>
        <p:nvSpPr>
          <p:cNvPr id="9" name="Shape 6"/>
          <p:cNvSpPr/>
          <p:nvPr/>
        </p:nvSpPr>
        <p:spPr>
          <a:xfrm>
            <a:off x="6324448" y="1828800"/>
            <a:ext cx="5318608" cy="4206240"/>
          </a:xfrm>
          <a:prstGeom prst="roundRect">
            <a:avLst>
              <a:gd name="adj" fmla="val 1957"/>
            </a:avLst>
          </a:prstGeom>
          <a:solidFill>
            <a:srgbClr val="EEF3F8"/>
          </a:solidFill>
          <a:ln w="12700">
            <a:solidFill>
              <a:srgbClr val="D6DEE6"/>
            </a:solidFill>
            <a:prstDash val="solid"/>
          </a:ln>
          <a:effectLst>
            <a:outerShdw sx="100000" sy="100000" kx="0" ky="0" algn="bl" rotWithShape="0" blurRad="101600" dist="38100" dir="5400000">
              <a:srgbClr val="9AA7B4">
                <a:alpha val="28000"/>
              </a:srgbClr>
            </a:outerShdw>
          </a:effectLst>
        </p:spPr>
      </p:sp>
      <p:sp>
        <p:nvSpPr>
          <p:cNvPr id="10" name="Shape 7"/>
          <p:cNvSpPr/>
          <p:nvPr/>
        </p:nvSpPr>
        <p:spPr>
          <a:xfrm>
            <a:off x="6644488" y="2148840"/>
            <a:ext cx="914400" cy="914400"/>
          </a:xfrm>
          <a:prstGeom prst="ellipse">
            <a:avLst/>
          </a:prstGeom>
          <a:solidFill>
            <a:srgbClr val="D97C2B"/>
          </a:solidFill>
          <a:ln/>
        </p:spPr>
      </p:sp>
      <p:pic>
        <p:nvPicPr>
          <p:cNvPr id="11" name="Image 1" descr="/home/claude/output2/icons/target.png">    </p:cNvPr>
          <p:cNvPicPr>
            <a:picLocks noChangeAspect="1"/>
          </p:cNvPicPr>
          <p:nvPr/>
        </p:nvPicPr>
        <p:blipFill>
          <a:blip r:embed="rId2"/>
          <a:stretch>
            <a:fillRect/>
          </a:stretch>
        </p:blipFill>
        <p:spPr>
          <a:xfrm>
            <a:off x="6873088" y="2377440"/>
            <a:ext cx="457200" cy="457200"/>
          </a:xfrm>
          <a:prstGeom prst="rect">
            <a:avLst/>
          </a:prstGeom>
        </p:spPr>
      </p:pic>
      <p:sp>
        <p:nvSpPr>
          <p:cNvPr id="12" name="Text 8"/>
          <p:cNvSpPr/>
          <p:nvPr/>
        </p:nvSpPr>
        <p:spPr>
          <a:xfrm>
            <a:off x="6781648" y="3200400"/>
            <a:ext cx="4404208" cy="457200"/>
          </a:xfrm>
          <a:prstGeom prst="rect">
            <a:avLst/>
          </a:prstGeom>
          <a:noFill/>
          <a:ln/>
        </p:spPr>
        <p:txBody>
          <a:bodyPr wrap="square" rtlCol="0" anchor="ctr"/>
          <a:lstStyle/>
          <a:p>
            <a:pPr algn="ctr" indent="0" marL="0">
              <a:buNone/>
            </a:pPr>
            <a:r>
              <a:rPr lang="en-US" sz="2000" b="1" dirty="0">
                <a:solidFill>
                  <a:srgbClr val="12395C"/>
                </a:solidFill>
                <a:latin typeface="Cambria" pitchFamily="34" charset="0"/>
                <a:ea typeface="Cambria" pitchFamily="34" charset="-122"/>
                <a:cs typeface="Cambria" pitchFamily="34" charset="-120"/>
              </a:rPr>
              <a:t>Hướng phát triển</a:t>
            </a:r>
            <a:endParaRPr lang="en-US" sz="2000" dirty="0"/>
          </a:p>
        </p:txBody>
      </p:sp>
      <p:sp>
        <p:nvSpPr>
          <p:cNvPr id="13" name="Text 9"/>
          <p:cNvSpPr/>
          <p:nvPr/>
        </p:nvSpPr>
        <p:spPr>
          <a:xfrm>
            <a:off x="6735928" y="3749040"/>
            <a:ext cx="4495648" cy="2103120"/>
          </a:xfrm>
          <a:prstGeom prst="rect">
            <a:avLst/>
          </a:prstGeom>
          <a:noFill/>
          <a:ln/>
        </p:spPr>
        <p:txBody>
          <a:bodyPr wrap="square" rtlCol="0" anchor="t"/>
          <a:lstStyle/>
          <a:p>
            <a:pPr marL="342900" indent="-342900">
              <a:spcAft>
                <a:spcPts val="1000"/>
              </a:spcAft>
              <a:buSzPct val="100000"/>
              <a:buChar char="•"/>
            </a:pPr>
            <a:r>
              <a:rPr lang="en-US" sz="1400" dirty="0">
                <a:solidFill>
                  <a:srgbClr val="16212E"/>
                </a:solidFill>
                <a:latin typeface="Calibri" pitchFamily="34" charset="0"/>
                <a:ea typeface="Calibri" pitchFamily="34" charset="-122"/>
                <a:cs typeface="Calibri" pitchFamily="34" charset="-120"/>
              </a:rPr>
              <a:t>Thu thập dữ liệu lâm sàng thật (có bác sĩ gán nhãn) để tinh chỉnh lại ANFIS thay vì chỉ học từ hệ luật viết tay.</a:t>
            </a:r>
            <a:endParaRPr lang="en-US" sz="1400" dirty="0"/>
          </a:p>
          <a:p>
            <a:pPr marL="342900" indent="-342900">
              <a:spcAft>
                <a:spcPts val="1000"/>
              </a:spcAft>
              <a:buSzPct val="100000"/>
              <a:buChar char="•"/>
            </a:pPr>
            <a:r>
              <a:rPr lang="en-US" sz="1400" dirty="0">
                <a:solidFill>
                  <a:srgbClr val="16212E"/>
                </a:solidFill>
                <a:latin typeface="Calibri" pitchFamily="34" charset="0"/>
                <a:ea typeface="Calibri" pitchFamily="34" charset="-122"/>
                <a:cs typeface="Calibri" pitchFamily="34" charset="-120"/>
              </a:rPr>
              <a:t>Mở rộng nghiên cứu MONAI khi có đủ dữ liệu ảnh y tế.</a:t>
            </a:r>
            <a:endParaRPr lang="en-US" sz="1400" dirty="0"/>
          </a:p>
          <a:p>
            <a:pPr marL="342900" indent="-342900">
              <a:buSzPct val="100000"/>
              <a:buChar char="•"/>
            </a:pPr>
            <a:r>
              <a:rPr lang="en-US" sz="1400" dirty="0">
                <a:solidFill>
                  <a:srgbClr val="16212E"/>
                </a:solidFill>
                <a:latin typeface="Calibri" pitchFamily="34" charset="0"/>
                <a:ea typeface="Calibri" pitchFamily="34" charset="-122"/>
                <a:cs typeface="Calibri" pitchFamily="34" charset="-120"/>
              </a:rPr>
              <a:t>Bổ sung thống kê / báo cáo vận hành chi tiết hơn cho Admin.</a:t>
            </a:r>
            <a:endParaRPr lang="en-US" sz="1400" dirty="0"/>
          </a:p>
        </p:txBody>
      </p:sp>
      <p:sp>
        <p:nvSpPr>
          <p:cNvPr id="14" name="Text 10"/>
          <p:cNvSpPr/>
          <p:nvPr/>
        </p:nvSpPr>
        <p:spPr>
          <a:xfrm>
            <a:off x="457200" y="6446520"/>
            <a:ext cx="5486400" cy="274320"/>
          </a:xfrm>
          <a:prstGeom prst="rect">
            <a:avLst/>
          </a:prstGeom>
          <a:noFill/>
          <a:ln/>
        </p:spPr>
        <p:txBody>
          <a:bodyPr wrap="square" rtlCol="0" anchor="ctr"/>
          <a:lstStyle/>
          <a:p>
            <a:pPr algn="l" indent="0" marL="0">
              <a:buNone/>
            </a:pPr>
            <a:r>
              <a:rPr lang="en-US" sz="1000" dirty="0">
                <a:solidFill>
                  <a:srgbClr val="5B6774"/>
                </a:solidFill>
                <a:latin typeface="Calibri" pitchFamily="34" charset="0"/>
                <a:ea typeface="Calibri" pitchFamily="34" charset="-122"/>
                <a:cs typeface="Calibri" pitchFamily="34" charset="-120"/>
              </a:rPr>
              <a:t>MediScan-AI — Kịch bản thuyết trình</a:t>
            </a:r>
            <a:endParaRPr lang="en-US" sz="1000" dirty="0"/>
          </a:p>
        </p:txBody>
      </p:sp>
      <p:sp>
        <p:nvSpPr>
          <p:cNvPr id="15" name="Text 11"/>
          <p:cNvSpPr/>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5B677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A45"/>
        </a:solidFill>
      </p:bgPr>
    </p:bg>
    <p:spTree>
      <p:nvGrpSpPr>
        <p:cNvPr id="1" name=""/>
        <p:cNvGrpSpPr/>
        <p:nvPr/>
      </p:nvGrpSpPr>
      <p:grpSpPr>
        <a:xfrm>
          <a:off x="0" y="0"/>
          <a:ext cx="0" cy="0"/>
          <a:chOff x="0" y="0"/>
          <a:chExt cx="0" cy="0"/>
        </a:xfrm>
      </p:grpSpPr>
      <p:pic>
        <p:nvPicPr>
          <p:cNvPr id="2" name="Image 0" descr="/home/claude/output2/icons/clinic.png">    </p:cNvPr>
          <p:cNvPicPr>
            <a:picLocks noChangeAspect="1"/>
          </p:cNvPicPr>
          <p:nvPr/>
        </p:nvPicPr>
        <p:blipFill>
          <a:blip r:embed="rId1">
            <a:alphaModFix amt="12000"/>
          </a:blip>
          <a:stretch>
            <a:fillRect/>
          </a:stretch>
        </p:blipFill>
        <p:spPr>
          <a:xfrm>
            <a:off x="7955280" y="1463040"/>
            <a:ext cx="3840480" cy="3840480"/>
          </a:xfrm>
          <a:prstGeom prst="rect">
            <a:avLst/>
          </a:prstGeom>
        </p:spPr>
      </p:pic>
      <p:sp>
        <p:nvSpPr>
          <p:cNvPr id="3" name="Text 0"/>
          <p:cNvSpPr/>
          <p:nvPr/>
        </p:nvSpPr>
        <p:spPr>
          <a:xfrm>
            <a:off x="822960" y="2651760"/>
            <a:ext cx="96012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Cảm ơn thầy/cô đã lắng nghe</a:t>
            </a:r>
            <a:endParaRPr lang="en-US" sz="4000" dirty="0"/>
          </a:p>
        </p:txBody>
      </p:sp>
      <p:sp>
        <p:nvSpPr>
          <p:cNvPr id="4" name="Text 1"/>
          <p:cNvSpPr/>
          <p:nvPr/>
        </p:nvSpPr>
        <p:spPr>
          <a:xfrm>
            <a:off x="868680" y="3520440"/>
            <a:ext cx="8686800" cy="502920"/>
          </a:xfrm>
          <a:prstGeom prst="rect">
            <a:avLst/>
          </a:prstGeom>
          <a:noFill/>
          <a:ln/>
        </p:spPr>
        <p:txBody>
          <a:bodyPr wrap="square" rtlCol="0" anchor="ctr"/>
          <a:lstStyle/>
          <a:p>
            <a:pPr indent="0" marL="0">
              <a:buNone/>
            </a:pPr>
            <a:r>
              <a:rPr lang="en-US" sz="1800" dirty="0">
                <a:solidFill>
                  <a:srgbClr val="CFE0EE"/>
                </a:solidFill>
                <a:latin typeface="Calibri" pitchFamily="34" charset="0"/>
                <a:ea typeface="Calibri" pitchFamily="34" charset="-122"/>
                <a:cs typeface="Calibri" pitchFamily="34" charset="-120"/>
              </a:rPr>
              <a:t>MediScan-AI  ·  Hỏi &amp; Đáp</a:t>
            </a:r>
            <a:endParaRPr lang="en-US" sz="1800" dirty="0"/>
          </a:p>
        </p:txBody>
      </p:sp>
      <p:sp>
        <p:nvSpPr>
          <p:cNvPr id="5" name="Shape 2"/>
          <p:cNvSpPr/>
          <p:nvPr/>
        </p:nvSpPr>
        <p:spPr>
          <a:xfrm>
            <a:off x="868680" y="4114800"/>
            <a:ext cx="457200" cy="36576"/>
          </a:xfrm>
          <a:prstGeom prst="rect">
            <a:avLst/>
          </a:prstGeom>
          <a:solidFill>
            <a:srgbClr val="D97C2B"/>
          </a:solidFill>
          <a:ln/>
        </p:spPr>
      </p:sp>
      <p:sp>
        <p:nvSpPr>
          <p:cNvPr id="6" name="Text 3"/>
          <p:cNvSpPr/>
          <p:nvPr/>
        </p:nvSpPr>
        <p:spPr>
          <a:xfrm>
            <a:off x="868680" y="6035040"/>
            <a:ext cx="4572000" cy="320040"/>
          </a:xfrm>
          <a:prstGeom prst="rect">
            <a:avLst/>
          </a:prstGeom>
          <a:noFill/>
          <a:ln/>
        </p:spPr>
        <p:txBody>
          <a:bodyPr wrap="square" rtlCol="0" anchor="ctr"/>
          <a:lstStyle/>
          <a:p>
            <a:pPr indent="0" marL="0">
              <a:buNone/>
            </a:pPr>
            <a:r>
              <a:rPr lang="en-US" sz="1300" b="1" dirty="0">
                <a:solidFill>
                  <a:srgbClr val="CFE0EE"/>
                </a:solidFill>
                <a:latin typeface="Calibri" pitchFamily="34" charset="0"/>
                <a:ea typeface="Calibri" pitchFamily="34" charset="-122"/>
                <a:cs typeface="Calibri" pitchFamily="34" charset="-120"/>
              </a:rPr>
              <a:t>Thực hiện: SonHT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2026-07-28T02:32:16Z</dcterms:created>
  <dcterms:modified xsi:type="dcterms:W3CDTF">2026-07-28T02:32:16Z</dcterms:modified>
</cp:coreProperties>
</file>